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cuatro patrones estructurales. Para cada uno mostramos el proceso completo: análisis, diseño (clases y secuencia), código explicado línea a línea y ejecución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cada patrón sigue el mismo proceso de cuatro fases.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no solo mostramos el código: mostramos cómo se llega a él (análisis, diseño), lo explicamos línea por línea y lo ejecutamos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Decorator añade responsabilidades a un objeto envolviéndolo en otro que implementa la misma interfaz. También se llama Wrapper.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Análisis: tiquetes de bus con extras. RF1 a RF3 y el requerimiento no funcional de extender sin modificar. Con herencia serían 8 subclases para 3 extras y se duplican con cada extra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clases: Main es la clase de control (crea y apila los objetos). Tiquete es la interfaz; TiqueteBasico y TiqueteDecorator la implementan; el decorador guarda un Tiquete (envuelto) y los decoradores concretos heredan de él.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Secuencia: la llamada costo() baja capa por capa hasta el tiquete básico y el precio sube sumando lo de cada capa.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Tiquete.java L2: Componente: el contrato común. El tiquete básico y todos los decoradores lo implementan.
Tiquete.java L3-4: Dos operaciones: qué incluye el tiquete y cuánto cuesta.
TiqueteDecorator.java L5: Decorador base: implementa Tiquete, así que se usa donde se espera un tiquete.
TiqueteDecorator.java L6: Guarda el tiquete que envuelve (composición).
TiqueteDecorator.java L8-10: El constructor recibe el objeto a decorar.
TiqueteDecorator.java L13-15: descripcion() delega en el objeto envuelto.
TiqueteDecorator.java L18-20: costo() también delega; los decoradores concretos lo sobrescriben y suman su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SeguroViaje.java L2: Decorador concreto: extiende TiqueteDecorator (hereda envuelto y la delegación).
SeguroViaje.java L3-5: super(envuelto) entrega el tiquete al decorador base.
SeguroViaje.java L8-10: Llama a super y agrega el texto del seguro.
SeguroViaje.java L13-15: Llama a super (precio hasta ahora) y suma 3.500.
Main.java L35: El tiquete básico: la capa más interna.
Main.java L36-37: Se apilan de adentro hacia afuera: seguro, equipaje (10 kg) y refrigerio.
Main.java L38: Cada capa suma su parte: 85.000 + 3.500 + 12.000 + 8.000 = 108.500.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ejecución en vivo con java -cp out Main --pausas y comprobar los totales.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Facade ofrece una interfaz simple a un subsistema complejo. Piensen en la recepción de un hotel.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Análisis: comprar un tiquete toca inventario, pago, facturación y notificaciones. Sin fachada, cada cliente tiene que conocer los cuatro y el orden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clases: Main es la clase de control y solo depende de VentaTiquetesFacade; la fachada tiene referencias a los cuatro subsistemas y expone comprarTiquete.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Secuencia: una llamada del cliente y la fachada realiza los seis pasos en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InventarioSillas.java L5: Un subsistema de ejemplo: sabe qué sillas están ocupadas. Hay otros tres: pago, facturación y notificaciones.
InventarioSillas.java L6: Estado interno: conjunto de sillas ocupadas.
InventarioSillas.java L8-11: Consulta si la silla está libre. Sin fachada, cada cliente tendría que llamarlo.
VentaTiquetesFacade.java L6: La fachada: la única clase que el cliente necesita conocer.
VentaTiquetesFacade.java L7-11: Tiene una referencia a cada subsistema; el cliente no las ve.
VentaTiquetesFacade.java L13-14: Un solo método público recibe todos los datos de la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VentaTiquetesFacade.java L15: Traza en consola: inicio de la operación.
VentaTiquetesFacade.java L17-20: Paso 1: si la silla está ocupada, cancela y devuelve false.
VentaTiquetesFacade.java L21-24: Paso 2: valida el medio de pago antes de cobrar.
VentaTiquetesFacade.java L25: Paso 3: reserva la silla.
VentaTiquetesFacade.java L26: Paso 4: cobra y guarda el código de transacción.
VentaTiquetesFacade.java L27-28: Paso 5: genera la factura con esa transacción.
VentaTiquetesFacade.java L29: Paso 6: envía la confirmación al correo.
VentaTiquetesFacade.java L31: Devuelve true: compra exitosa.
Main.java L28-29: El cliente hace UNA llamada; antes eran seis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ejecución en vivo. Señalar el intento sobre la silla 7 ocupada.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Flyweight ahorra memoria compartiendo el estado común entre muchos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Análisis: mapa de monitoreo de buses. Estado intrínseco (compartido) y extrínseco (propio). Medición aproximada con 5.000 buses: unos 99 MB sin Flyweight contra unos 0,5 MB con Flyweight; depende de la JVM.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clases: Main es la clase de control; BusEnRuta es el contexto; TipoBus es el flyweight inmutable; TipoBusFactory garantiza una instancia por combinación marca-modelo-capacidad.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Secuencia: la fábrica crea el TipoBus solo la primera vez y después lo reutiliza.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TipoBus.java L6: Flyweight: final e inmutable, porque se comparte entre muchos buses.
TipoBus.java L7-9: Estado intrínseco: igual para todos los buses del mismo modelo.
TipoBus.java L10: Recurso pesado simulado (~20 KB): lo que no queremos duplicar.
TipoBus.java L12-17: Solo se ejecuta al crear un modelo nuevo.
TipoBusFactory.java L6: Caché de flyweights: clave → TipoBus ya creado.
TipoBusFactory.java L8-9: Punto único para pedir un TipoBus.
TipoBusFactory.java L10: La clave identifica el modelo: marca|modelo|capacidad.
TipoBusFactory.java L11-12: Si la clave existe devuelve la misma instancia; si no, la crea y la guarda.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BusEnRuta.java L5: Contexto: un objeto por cada bus real (hay 5.000).
BusEnRuta.java L6-8: Estado extrínseco: placa y posición, distintos en cada bus.
BusEnRuta.java L9: Referencia al flyweight: no copia los datos, los comparte.
BusEnRuta.java L11-17: El constructor recibe el TipoBus ya creado.
Main.java L53: Lista de los 5.000 buses.
Main.java L57-58: Pide el modelo a la fábrica: siempre el mismo objeto por modelo.
Main.java L59-60: Posición propia de cada bus (estado extrínseco).
Main.java L61: Crea el bus con su placa y posición y el TipoBus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Ejecutar en vivo. Recordar que las cifras de memoria pueden variar un poco entre ejecuciones.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Definición: Proxy es un sustituto que controla el acceso a otro objeto y comparte su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Análisis: reportes gerenciales. El mismo proxy hace protección, creación perezosa (virtual) y caché.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clases: Main es la clase de control y solo conoce la interfaz. El objeto real y el proxy la implementan; el proxy tiene una referencia al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Secuencia: la primera consulta llega al objeto real; la segunda se responde desde el caché.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RepositorioReportes.java L2: Contrato común del objeto real y del proxy: el cliente solo conoce esta interfaz.
RepositorioReportes.java L3: Una operación: pedir un reporte por su id.
RepositorioReportesReal.java L2: Sujeto real: hace el trabajo caro.
RepositorioReportesReal.java L3-7: Crearlo es costoso: simula abrir la conexión (0,8 s).
Complemento: en el mismo archivo, obtenerReporte() del objeto real espera 1 s y devuelve el contenido (líneas 8-13).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ProxyReportes.java L11: El proxy implementa la misma interfaz que el objeto real.
ProxyReportes.java L12-13: Datos de quien pide; sirven para decidir el acceso.
ProxyReportes.java L14: Referencia al objeto real; empieza en null (aún no se crea).
ProxyReportes.java L15: Caché de reportes ya consultados.
ProxyReportes.java L17-20: Guarda usuario y rol; NO abre la conexión.
Main.java L24: El cliente usa la interfaz: no sabe que es un proxy.
Main.java L25: Primera consulta: aquí se crea el objeto real (~1,8 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código en este orden:
ProxyReportes.java L24-25: Registro de cada acceso (proxy de logging).
ProxyReportes.java L28-31: Protección: solo GERENTE o AUDITOR; otros reciben null sin tocar la BD.
ProxyReportes.java L33-37: Caché: si ya se consultó, responde sin ir a la BD.
ProxyReportes.java L39-41: Creación perezosa: el objeto real se crea la primera vez que hace falta.
ProxyReportes.java L42: Delega en el objeto real (consulta lenta).
ProxyReportes.java L43: Guarda el resultado para la próxima vez.
ProxyReportes.java L44: Devuelve el reporte.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Ejecutar en vivo con --pausas para narrar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Decorator y Proxy tienen estructura parecida pero distinta intención.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ejecución se hace en vivo. Con --pausas el programa espera Enter entre casos, para explicar lo que va apareciendo.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consultadas.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5" Type="http://schemas.openxmlformats.org/officeDocument/2006/relationships/image" Target="../media/image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640080"/>
            <a:ext cx="4480560" cy="4023360"/>
          </a:xfrm>
          <a:prstGeom prst="ellipse">
            <a:avLst/>
          </a:prstGeom>
          <a:solidFill>
            <a:srgbClr val="CFE8F9"/>
          </a:solidFill>
          <a:ln w="12700">
            <a:solidFill>
              <a:srgbClr val="CFE8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457200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566928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27064" y="374904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8212" y="416052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68312" y="502920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00316" y="534924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1232" y="457200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6096" y="512064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234440"/>
            <a:ext cx="1828800" cy="1188720"/>
          </a:xfrm>
          <a:prstGeom prst="roundRect">
            <a:avLst>
              <a:gd name="adj" fmla="val 3846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307592"/>
            <a:ext cx="1682496" cy="1042416"/>
          </a:xfrm>
          <a:prstGeom prst="rect">
            <a:avLst/>
          </a:prstGeom>
          <a:solidFill>
            <a:srgbClr val="2B2F39"/>
          </a:solidFill>
          <a:ln w="12700">
            <a:solidFill>
              <a:srgbClr val="2B2F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1516761"/>
            <a:ext cx="731520" cy="45720"/>
          </a:xfrm>
          <a:prstGeom prst="rect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1708739"/>
            <a:ext cx="1097280" cy="45720"/>
          </a:xfrm>
          <a:prstGeom prst="rect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900718"/>
            <a:ext cx="585216" cy="45720"/>
          </a:xfrm>
          <a:prstGeom prst="rect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092696"/>
            <a:ext cx="877824" cy="45720"/>
          </a:xfrm>
          <a:prstGeom prst="rect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4208" y="2423160"/>
            <a:ext cx="146304" cy="256032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679192"/>
            <a:ext cx="731520" cy="4572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1737360"/>
            <a:ext cx="1920240" cy="1280160"/>
          </a:xfrm>
          <a:prstGeom prst="roundRect">
            <a:avLst>
              <a:gd name="adj" fmla="val 3571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810512"/>
            <a:ext cx="1773936" cy="1133856"/>
          </a:xfrm>
          <a:prstGeom prst="rect">
            <a:avLst/>
          </a:prstGeom>
          <a:solidFill>
            <a:srgbClr val="2B2F39"/>
          </a:solidFill>
          <a:ln w="12700">
            <a:solidFill>
              <a:srgbClr val="2B2F3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041398"/>
            <a:ext cx="777240" cy="45720"/>
          </a:xfrm>
          <a:prstGeom prst="rect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248144"/>
            <a:ext cx="1165860" cy="45720"/>
          </a:xfrm>
          <a:prstGeom prst="rect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454890"/>
            <a:ext cx="621792" cy="45720"/>
          </a:xfrm>
          <a:prstGeom prst="rect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2661636"/>
            <a:ext cx="932688" cy="45720"/>
          </a:xfrm>
          <a:prstGeom prst="rect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017520"/>
            <a:ext cx="146304" cy="256032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3273552"/>
            <a:ext cx="731520" cy="4572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611880"/>
            <a:ext cx="3931920" cy="64008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63240"/>
            <a:ext cx="502920" cy="50292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CR-3 T-1 · EXPO PATRONES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846320" y="13258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Patrones estructurales</a:t>
            </a:r>
            <a:endParaRPr lang="en-US" sz="4600" dirty="0"/>
          </a:p>
        </p:txBody>
      </p:sp>
      <p:sp>
        <p:nvSpPr>
          <p:cNvPr id="31" name="Text 28"/>
          <p:cNvSpPr txBox="1"/>
          <p:nvPr/>
        </p:nvSpPr>
        <p:spPr>
          <a:xfrm>
            <a:off x="484632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B4F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 · Facade · Flyweight · Proxy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4846320" y="3429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José Rodríguez Gutiérrez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Camilo Andrés Díaz García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Steven Pérez Chuscano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846320" y="4434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de Software · 2026-2 G02 · Universidad Sergio Arboleda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¿Qué vamos a ver?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9601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son patrones estructurales: organizan cómo se componen clases y objetos. Cada uno responde a un problema distinto.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1691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2073859"/>
            <a:ext cx="332842" cy="33284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630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responsabilidades a un objeto en ejecución, sin subclases.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1691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800600" y="1920240"/>
            <a:ext cx="640080" cy="640080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219" y="2073859"/>
            <a:ext cx="332842" cy="33284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62356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5623560" y="22860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interfaz simple para un subsistema complejo.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32004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3582619"/>
            <a:ext cx="332842" cy="33284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4630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146304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Ahorrar memoria compartiendo el estado común.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617720" y="320040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4800600" y="3429000"/>
            <a:ext cx="640080" cy="640080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219" y="3582619"/>
            <a:ext cx="332842" cy="33284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56235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</a:t>
            </a:r>
            <a:endParaRPr lang="en-US" sz="2000" dirty="0"/>
          </a:p>
        </p:txBody>
      </p:sp>
      <p:sp>
        <p:nvSpPr>
          <p:cNvPr id="36" name="Text 30"/>
          <p:cNvSpPr txBox="1"/>
          <p:nvPr/>
        </p:nvSpPr>
        <p:spPr>
          <a:xfrm>
            <a:off x="5623560" y="3794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acceso a otro objeto: proteger, retrasar, cachear.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Cómo lo desarrollamos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ingenieril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patrón se trabajó con las mismas cuatro fases. En cada diapositiva verás en qué fase estamos (arriba a la derecha).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15568" y="1691640"/>
            <a:ext cx="658368" cy="658368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576" y="1849648"/>
            <a:ext cx="342351" cy="342351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94360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 Análisis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del negocio y requerimientos (RF y RNF). Por qué se necesita el patrón.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+ RF/RNF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542032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0" y="1691640"/>
            <a:ext cx="658368" cy="658368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8408" y="1849648"/>
            <a:ext cx="342351" cy="342351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679192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Diseño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2706624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 con la clase de control y diagrama de secuencia del proceso.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2679192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de clases y secuencia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626864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285232" y="1691640"/>
            <a:ext cx="658368" cy="658368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240" y="1849648"/>
            <a:ext cx="342351" cy="342351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4764024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 Código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4791456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Java, explicada línea por línea sobre los archivos reales.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4764024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numerado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11696" y="150876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370064" y="1691640"/>
            <a:ext cx="658368" cy="658368"/>
          </a:xfrm>
          <a:prstGeom prst="ellipse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072" y="1849648"/>
            <a:ext cx="342351" cy="342351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6848856" y="24688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 Pruebas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6876288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programa, pantallazo de la salida y verificación de lo esperado.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848856" y="3977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en vivo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4754880" cy="4389120"/>
          </a:xfrm>
          <a:prstGeom prst="ellipse">
            <a:avLst/>
          </a:prstGeom>
          <a:solidFill>
            <a:srgbClr val="E4F2FC"/>
          </a:solidFill>
          <a:ln w="12700">
            <a:solidFill>
              <a:srgbClr val="E4F2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566160"/>
            <a:ext cx="2926080" cy="219456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57200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66928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374904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2612" y="416052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2712" y="502920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534924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5632" y="457200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0496" y="512064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4615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548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  ·  también llamado Wrapper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responsabilidades a un objeto de forma dinámica, envolviéndolo en otros objetos que comparten su misma interfaz.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vestirse en capas: camiseta, buzo, chaqueta. Cada capa agrega algo (abrigo) sin cambiar a la persona, y puedes quitarte o ponerte capas según el clima.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Decorator: análisis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234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de buses vende tiquetes y ofrece extras: seguro de viaje, equipaje adicional y refrigerio. Cada cliente combina los extras a su gusto, y cada extra cambia el precio y la descripción.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un tiquete base con ruta y tarifa.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seguro, equipaje extra y/o refrigerio en cualquier combinación.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RF3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y la descripción reflejan todos los extras elegidos.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 extra nuevo sin modificar las clases existentes.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cuando: las subclases explotarían (una por combinación) o no puedes modificar la clase original.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Decorator: herencia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39903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139903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79008" y="139903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779008" y="139903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+Seguro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11696" y="139903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11696" y="139903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+Equipaje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44384" y="139903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44384" y="139903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+Refrigerio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46320" y="176479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46320" y="17647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+Seg+Equip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779008" y="176479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79008" y="17647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+Seg+Refr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11696" y="176479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11696" y="17647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+Equip+Refr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644384" y="1764792"/>
            <a:ext cx="877824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44384" y="1764792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+Los 3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84632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subclases (y se duplican con cada extra nuevo)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84632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Decorator: capas apilables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92040" y="28346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1E8E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83480" y="28712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RefrigerioABordo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74920" y="3108960"/>
            <a:ext cx="3200400" cy="1078992"/>
          </a:xfrm>
          <a:prstGeom prst="roundRect">
            <a:avLst>
              <a:gd name="adj" fmla="val 5085"/>
            </a:avLst>
          </a:prstGeom>
          <a:solidFill>
            <a:srgbClr val="3AA8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66360" y="31455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EquipajeExtra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257800" y="3383280"/>
            <a:ext cx="2834640" cy="694944"/>
          </a:xfrm>
          <a:prstGeom prst="roundRect">
            <a:avLst>
              <a:gd name="adj" fmla="val 7895"/>
            </a:avLst>
          </a:prstGeom>
          <a:solidFill>
            <a:srgbClr val="7CC8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49240" y="341985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SeguroViaje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40680" y="365760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D8F0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532120" y="3694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TiqueteBasico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4846320" y="4325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decoradores, cualquier combinación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Decorator: diagrama de clases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66560" y="96012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 txBox="1"/>
          <p:nvPr/>
        </p:nvSpPr>
        <p:spPr>
          <a:xfrm>
            <a:off x="6903720" y="1051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903720" y="1344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903720" y="15361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Tiquete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6903720" y="19110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ConcreteComponent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6903720" y="21031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TiqueteBasico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903720" y="24780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903720" y="2670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TiqueteDecorator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903720" y="3044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ConcreteDecorator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6903720" y="32369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Seguro, Equipaje, Refrigerio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553712"/>
            <a:ext cx="182880" cy="128016"/>
          </a:xfrm>
          <a:prstGeom prst="rect">
            <a:avLst/>
          </a:prstGeom>
          <a:solidFill>
            <a:srgbClr val="5BB4F0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13232" y="4517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control (coordina el flujo)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00400" y="4553712"/>
            <a:ext cx="182880" cy="128016"/>
          </a:xfrm>
          <a:prstGeom prst="rect">
            <a:avLst/>
          </a:prstGeom>
          <a:solidFill>
            <a:srgbClr val="3A3F4B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456432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del patrón / dominio</a:t>
            </a:r>
            <a:endParaRPr lang="en-US" sz="900" dirty="0"/>
          </a:p>
        </p:txBody>
      </p:sp>
      <p:pic>
        <p:nvPicPr>
          <p:cNvPr id="75" name="Picture 74" descr="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09" y="960120"/>
            <a:ext cx="4671142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Decorator: secuencia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costo(): la petición baja por las capas y el precio sube sumando cada extra (ejemplo: refrigerio + seguro sobre un tiquete de $85.000).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1143000"/>
            <a:ext cx="1417320" cy="420624"/>
          </a:xfrm>
          <a:prstGeom prst="rect">
            <a:avLst/>
          </a:prstGeom>
          <a:solidFill>
            <a:srgbClr val="5BB4F0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859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8346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RefrigerioABordo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433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8920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920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SeguroViaje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007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9494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TiqueteBasico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581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85900" y="1929384"/>
            <a:ext cx="2057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37" name="Text 35"/>
          <p:cNvSpPr txBox="1"/>
          <p:nvPr/>
        </p:nvSpPr>
        <p:spPr>
          <a:xfrm>
            <a:off x="1531620" y="17145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costo()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43300" y="2276856"/>
            <a:ext cx="2057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39" name="Text 37"/>
          <p:cNvSpPr txBox="1"/>
          <p:nvPr/>
        </p:nvSpPr>
        <p:spPr>
          <a:xfrm>
            <a:off x="3589020" y="20619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envuelto.costo()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00700" y="2624328"/>
            <a:ext cx="2057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1" name="Text 39"/>
          <p:cNvSpPr txBox="1"/>
          <p:nvPr/>
        </p:nvSpPr>
        <p:spPr>
          <a:xfrm>
            <a:off x="5646420" y="24094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envuelto.costo()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 flipH="1">
            <a:off x="5600700" y="2971800"/>
            <a:ext cx="20574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3" name="Text 41"/>
          <p:cNvSpPr txBox="1"/>
          <p:nvPr/>
        </p:nvSpPr>
        <p:spPr>
          <a:xfrm>
            <a:off x="5646420" y="27569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4. 85.000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55564" y="32004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6F2FB"/>
          </a:solidFill>
          <a:ln w="9525">
            <a:solidFill>
              <a:srgbClr val="5BB4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92140" y="320040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suma 3.500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3543300" y="3666744"/>
            <a:ext cx="20574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7" name="Text 45"/>
          <p:cNvSpPr txBox="1"/>
          <p:nvPr/>
        </p:nvSpPr>
        <p:spPr>
          <a:xfrm>
            <a:off x="3589020" y="34518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6. 88.500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98164" y="3895344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6F2FB"/>
          </a:solidFill>
          <a:ln w="9525">
            <a:solidFill>
              <a:srgbClr val="5BB4F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634740" y="3895344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suma 8.000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1485900" y="4361688"/>
            <a:ext cx="20574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51" name="Text 49"/>
          <p:cNvSpPr txBox="1"/>
          <p:nvPr/>
        </p:nvSpPr>
        <p:spPr>
          <a:xfrm>
            <a:off x="1531620" y="41468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8. 96.500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Decorator: código (1/2)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 L5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Componente: el contrato común. El tiquete básico y todos los decoradores lo implementan.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 L8, L11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Dos operaciones: qué incluye el tiquete y cuánto cuesta.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TiqueteDecorator L6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Decorador base: implementa Tiquete, así que se usa donde se espera un tiquete.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TiqueteDecorator L8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Guarda el tiquete que envuelve (composición).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TiqueteDecorator L10-12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El constructor recibe el objeto a decorar.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TiqueteDecorator L15-17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descripcion() delega en el objeto envuelto.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TiqueteDecorator L20-22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costo() también delega; los decoradores concretos lo sobrescriben y suman su parte.</a:t>
            </a:r>
            <a:endParaRPr lang="en-US" sz="900" dirty="0"/>
          </a:p>
        </p:txBody>
      </p:sp>
      <p:pic>
        <p:nvPicPr>
          <p:cNvPr id="32" name="Picture 31" descr="Decorator Tiquete java DIA 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108" y="914400"/>
            <a:ext cx="2494583" cy="946404"/>
          </a:xfrm>
          <a:prstGeom prst="rect">
            <a:avLst/>
          </a:prstGeom>
        </p:spPr>
      </p:pic>
      <p:pic>
        <p:nvPicPr>
          <p:cNvPr id="33" name="Picture 32" descr="Decorator TiqueteDecorator java DIA 8 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47" y="1952244"/>
            <a:ext cx="4267106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Decorator: código (2/2)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SeguroViaje L4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Decorador concreto: extiende TiqueteDecorator (hereda envuelto y la delegación).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SeguroViaje L6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Constante con nombre en vez de un número mágico: 3.500 es igual para todos los seguros.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SeguroViaje L8-10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super(envuelto) entrega el tiquete al decorador base.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SeguroViaje L13-15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Llama a super y agrega el texto del seguro.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SeguroViaje L18-20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Llama a super (precio hasta ahora) y suma COSTO_SEGURO.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Main L35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El tiquete básico: la capa más interna.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Main L36-37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Se apilan de adentro hacia afuera: seguro, equipaje (10 kg) y refrigerio.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Main L38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Cada capa suma su parte: 85.000 + 3.500 + 12.000 + 8.000 = 108.500.</a:t>
            </a:r>
            <a:endParaRPr lang="en-US" sz="900" dirty="0"/>
          </a:p>
        </p:txBody>
      </p:sp>
      <p:pic>
        <p:nvPicPr>
          <p:cNvPr id="32" name="Picture 31" descr="Decorator SeguroViajejava DIA 9 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96" y="914400"/>
            <a:ext cx="3438407" cy="2329244"/>
          </a:xfrm>
          <a:prstGeom prst="rect">
            <a:avLst/>
          </a:prstGeom>
        </p:spPr>
      </p:pic>
      <p:pic>
        <p:nvPicPr>
          <p:cNvPr id="33" name="Picture 32" descr="Decorator Main java DIA 9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439" y="3335084"/>
            <a:ext cx="3589921" cy="9161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Decorator: pruebas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9144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623560" y="987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comprobamos?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126187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tiquete completo cuesta $108.500 = 85.000 + 3.500 + 12.000 + 8.000.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tiquete con solo 2 extras (caso 4) da $131.500.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creó ninguna subclase nueva por combinación.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651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96128" y="2724912"/>
            <a:ext cx="256032" cy="256032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576" y="2786360"/>
            <a:ext cx="133137" cy="13313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925312" y="2724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235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sin crear subclases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capas al ejecutar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0" y="37490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596128" y="38221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76" y="3883640"/>
            <a:ext cx="133137" cy="133137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5925312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5623560" y="4096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objetos pequeños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las capas puede importar</a:t>
            </a:r>
            <a:endParaRPr lang="en-US" sz="950" dirty="0"/>
          </a:p>
        </p:txBody>
      </p:sp>
      <p:pic>
        <p:nvPicPr>
          <p:cNvPr id="39" name="Picture 38" descr="DECORATOR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39" y="914400"/>
            <a:ext cx="4420921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4754880" cy="4389120"/>
          </a:xfrm>
          <a:prstGeom prst="ellipse">
            <a:avLst/>
          </a:prstGeom>
          <a:solidFill>
            <a:srgbClr val="E4F2FC"/>
          </a:solidFill>
          <a:ln w="12700">
            <a:solidFill>
              <a:srgbClr val="E4F2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566160"/>
            <a:ext cx="2926080" cy="219456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57200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66928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374904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2612" y="416052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2712" y="502920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534924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5632" y="457200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0496" y="512064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4615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548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  ·  también llamado Fachada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 una interfaz simplificada a un conjunto de clases complejo: un único punto de entrada para todo un subsistema.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mostrador de un hotel: pides «una habitación» y la recepción coordina limpieza, reservas, llaves y pagos por ti.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Facade: análisis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234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un tiquete implica consultar la silla, validar el pago, cobrar, facturar y enviar el correo. Si cada pantalla repite esos pasos, el código queda acoplado a cuatro subsistemas.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 un tiquete: verificar silla, validar pago, bloquear silla, cobrar, facturar y notificar.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silla ya está ocupada, la compra se cancela.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del sistema no deben conocer los subsistemas ni el orden de los pasos.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cuando: necesitas una interfaz simple para un subsistema complejo y menos acoplamiento.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46320" y="1069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Facade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737360"/>
            <a:ext cx="914400" cy="365760"/>
          </a:xfrm>
          <a:prstGeom prst="roundRect">
            <a:avLst>
              <a:gd name="adj" fmla="val 12500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34416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1344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 flipV="1">
            <a:off x="5760720" y="1490472"/>
            <a:ext cx="1280160" cy="42976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040880" y="170992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17099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 flipV="1">
            <a:off x="5760720" y="1856232"/>
            <a:ext cx="1280160" cy="64008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040880" y="207568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40880" y="2075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0720" y="1920240"/>
            <a:ext cx="1280160" cy="301752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040880" y="2441448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0880" y="2441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60720" y="1920240"/>
            <a:ext cx="1280160" cy="667512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84632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Facade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365760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46320" y="3657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35040" y="36118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3504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69280" y="3840480"/>
            <a:ext cx="365760" cy="0"/>
          </a:xfrm>
          <a:prstGeom prst="line">
            <a:avLst/>
          </a:prstGeom>
          <a:noFill/>
          <a:ln w="15875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7315200" y="324612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D8F0E4"/>
          </a:solidFill>
          <a:ln w="12700">
            <a:solidFill>
              <a:srgbClr val="A7DA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520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 flipV="1">
            <a:off x="6949440" y="3374136"/>
            <a:ext cx="365760" cy="466344"/>
          </a:xfrm>
          <a:prstGeom prst="line">
            <a:avLst/>
          </a:prstGeom>
          <a:noFill/>
          <a:ln w="1270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315200" y="357530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D8F0E4"/>
          </a:solidFill>
          <a:ln w="12700">
            <a:solidFill>
              <a:srgbClr val="A7DAB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315200" y="3575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 flipV="1">
            <a:off x="6949440" y="3703320"/>
            <a:ext cx="365760" cy="137160"/>
          </a:xfrm>
          <a:prstGeom prst="line">
            <a:avLst/>
          </a:prstGeom>
          <a:noFill/>
          <a:ln w="1270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315200" y="390448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D8F0E4"/>
          </a:solidFill>
          <a:ln w="12700">
            <a:solidFill>
              <a:srgbClr val="A7DAB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15200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49440" y="3840480"/>
            <a:ext cx="365760" cy="192024"/>
          </a:xfrm>
          <a:prstGeom prst="line">
            <a:avLst/>
          </a:prstGeom>
          <a:noFill/>
          <a:ln w="1270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315200" y="423367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D8F0E4"/>
          </a:solidFill>
          <a:ln w="12700">
            <a:solidFill>
              <a:srgbClr val="A7DAB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15200" y="42336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949440" y="3840480"/>
            <a:ext cx="365760" cy="521208"/>
          </a:xfrm>
          <a:prstGeom prst="line">
            <a:avLst/>
          </a:prstGeom>
          <a:noFill/>
          <a:ln w="12700">
            <a:solidFill>
              <a:srgbClr val="1E8E5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Facade: diagrama de clases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553712"/>
            <a:ext cx="182880" cy="128016"/>
          </a:xfrm>
          <a:prstGeom prst="rect">
            <a:avLst/>
          </a:prstGeom>
          <a:solidFill>
            <a:srgbClr val="5BB4F0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3232" y="4517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control (coordina el flujo)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0" y="4553712"/>
            <a:ext cx="182880" cy="128016"/>
          </a:xfrm>
          <a:prstGeom prst="rect">
            <a:avLst/>
          </a:prstGeom>
          <a:solidFill>
            <a:srgbClr val="3A3F4B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56432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del patrón / dominio</a:t>
            </a:r>
            <a:endParaRPr lang="en-US" sz="900" dirty="0"/>
          </a:p>
        </p:txBody>
      </p:sp>
      <p:pic>
        <p:nvPicPr>
          <p:cNvPr id="57" name="Picture 56" descr="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3952"/>
            <a:ext cx="8229600" cy="3365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Facade: secuencia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comprarTiquete(): una sola llamada del cliente; la fachada coordina los seis pasos.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" y="1143000"/>
            <a:ext cx="1261872" cy="420624"/>
          </a:xfrm>
          <a:prstGeom prst="rect">
            <a:avLst/>
          </a:prstGeom>
          <a:solidFill>
            <a:srgbClr val="5BB4F0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11430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430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883664" y="1143000"/>
            <a:ext cx="1261872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83664" y="11430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146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255264" y="1143000"/>
            <a:ext cx="1261872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55264" y="11430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InventarioSillas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862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626864" y="1143000"/>
            <a:ext cx="1261872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26864" y="11430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ServicioPago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578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998464" y="1143000"/>
            <a:ext cx="1261872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98464" y="11430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ServicioFacturacion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294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7370064" y="1143000"/>
            <a:ext cx="1261872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70064" y="1143000"/>
            <a:ext cx="1261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ServicioNotificaciones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010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143000" y="1929384"/>
            <a:ext cx="13716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3" name="Text 41"/>
          <p:cNvSpPr txBox="1"/>
          <p:nvPr/>
        </p:nvSpPr>
        <p:spPr>
          <a:xfrm>
            <a:off x="1188720" y="17145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comprarTiquete()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14600" y="2276856"/>
            <a:ext cx="13716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5" name="Text 43"/>
          <p:cNvSpPr txBox="1"/>
          <p:nvPr/>
        </p:nvSpPr>
        <p:spPr>
          <a:xfrm>
            <a:off x="2560320" y="20619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estaDisponible(7)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14600" y="2624328"/>
            <a:ext cx="2743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7" name="Text 45"/>
          <p:cNvSpPr txBox="1"/>
          <p:nvPr/>
        </p:nvSpPr>
        <p:spPr>
          <a:xfrm>
            <a:off x="2560320" y="24094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validarMedioPago()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514600" y="2971800"/>
            <a:ext cx="13716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9" name="Text 47"/>
          <p:cNvSpPr txBox="1"/>
          <p:nvPr/>
        </p:nvSpPr>
        <p:spPr>
          <a:xfrm>
            <a:off x="2560320" y="27569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bloquear(7)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14600" y="3319272"/>
            <a:ext cx="2743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51" name="Text 49"/>
          <p:cNvSpPr txBox="1"/>
          <p:nvPr/>
        </p:nvSpPr>
        <p:spPr>
          <a:xfrm>
            <a:off x="2560320" y="31043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cobrar()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14600" y="3666744"/>
            <a:ext cx="41148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53" name="Text 51"/>
          <p:cNvSpPr txBox="1"/>
          <p:nvPr/>
        </p:nvSpPr>
        <p:spPr>
          <a:xfrm>
            <a:off x="2560320" y="34518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generarFactura()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14600" y="4014216"/>
            <a:ext cx="5486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55" name="Text 53"/>
          <p:cNvSpPr txBox="1"/>
          <p:nvPr/>
        </p:nvSpPr>
        <p:spPr>
          <a:xfrm>
            <a:off x="2560320" y="37993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enviarConfirmacion()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 flipH="1">
            <a:off x="1143000" y="4361688"/>
            <a:ext cx="13716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57" name="Text 55"/>
          <p:cNvSpPr txBox="1"/>
          <p:nvPr/>
        </p:nvSpPr>
        <p:spPr>
          <a:xfrm>
            <a:off x="1188720" y="41468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true (compra exitosa)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Facade: código (1/2)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InventarioSillas L5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subsistema de ejemplo: sabe qué sillas están ocupadas. Hay otros tres: pago, facturación y notificaciones.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InventarioSillas L6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interno: conjunto de sillas ocupadas.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InventarioSillas L8-11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si la silla está libre. Sin fachada, cada cliente tendría que llamarlo.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L6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fachada: la única clase que el cliente necesita conocer.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L7-11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una referencia a cada subsistema; el cliente no las ve.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L13-14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método público recibe todos los datos de la compra.</a:t>
            </a:r>
            <a:endParaRPr lang="en-US" sz="900" dirty="0"/>
          </a:p>
        </p:txBody>
      </p:sp>
      <p:pic>
        <p:nvPicPr>
          <p:cNvPr id="32" name="Picture 31" descr="Facade InventarioSillas java DIA 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302" y="914400"/>
            <a:ext cx="3074196" cy="1248664"/>
          </a:xfrm>
          <a:prstGeom prst="rect">
            <a:avLst/>
          </a:prstGeom>
        </p:spPr>
      </p:pic>
      <p:pic>
        <p:nvPicPr>
          <p:cNvPr id="33" name="Picture 32" descr="Facade VentaTiquetesFacadejava DIA 1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294" y="2254504"/>
            <a:ext cx="3226211" cy="1490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Facade: código (2/2)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L15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en consola: inicio de la operación.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L17-20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si la silla está ocupada, cancela y devuelve false.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L21-24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valida el medio de pago antes de cobrar.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L25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reserva la silla.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L26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cobra y guarda el código de transacción.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L27-28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genera la factura con esa transacción.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L29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envía la confirmación al correo.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VentaTiquetesFacade L31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true: compra exitosa.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L28-29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hace UNA llamada; antes eran seis pasos.</a:t>
            </a:r>
            <a:endParaRPr lang="en-US" sz="850" dirty="0"/>
          </a:p>
        </p:txBody>
      </p:sp>
      <p:pic>
        <p:nvPicPr>
          <p:cNvPr id="32" name="Picture 31" descr="Facade VentaTiquetesFacadejava DIA 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2" y="914400"/>
            <a:ext cx="5149216" cy="2457704"/>
          </a:xfrm>
          <a:prstGeom prst="rect">
            <a:avLst/>
          </a:prstGeom>
        </p:spPr>
      </p:pic>
      <p:pic>
        <p:nvPicPr>
          <p:cNvPr id="33" name="Picture 32" descr="Facade Mainjava DIA1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930" y="3463544"/>
            <a:ext cx="1818940" cy="765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Facade: pruebas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9144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623560" y="987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comprobamos?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126187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compra de la silla 7 ejecuta los 6 pasos con una sola llamada.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intento sobre la silla 7 se cancela en el paso 1.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Main con fachada necesita 1 llamada; sin fachada, 6.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651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96128" y="2724912"/>
            <a:ext cx="256032" cy="256032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576" y="2786360"/>
            <a:ext cx="133137" cy="13313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925312" y="2724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235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 al cliente de la complejidad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para el flujo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0" y="37490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596128" y="38221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76" y="3883640"/>
            <a:ext cx="133137" cy="133137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5925312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5623560" y="4096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volverse un «objeto Dios»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extra que mantener</a:t>
            </a:r>
            <a:endParaRPr lang="en-US" sz="950" dirty="0"/>
          </a:p>
        </p:txBody>
      </p:sp>
      <p:pic>
        <p:nvPicPr>
          <p:cNvPr id="39" name="Picture 38" descr="FACAD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95" y="914400"/>
            <a:ext cx="4029410" cy="3621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4754880" cy="4389120"/>
          </a:xfrm>
          <a:prstGeom prst="ellipse">
            <a:avLst/>
          </a:prstGeom>
          <a:solidFill>
            <a:srgbClr val="E4F2FC"/>
          </a:solidFill>
          <a:ln w="12700">
            <a:solidFill>
              <a:srgbClr val="E4F2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566160"/>
            <a:ext cx="2926080" cy="219456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57200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66928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374904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2612" y="416052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2712" y="502920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534924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5632" y="457200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0496" y="512064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4615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548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  ·  también llamado Peso ligero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manejar una gran cantidad de objetos compartiendo la parte de su estado que es común, en lugar de duplicarla en cada uno.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letras de un editor de texto: la forma de la «a» se guarda una sola vez; lo que cambia en cada aparición es solo su posición.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Flyweight: análisis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234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mapa de monitoreo GPS dibuja miles de buses. Cada bus repite marca, modelo, capacidad y un recurso gráfico pesado que es idéntico para todos los buses del mismo modelo.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en el mapa la posición de 5.000 buses.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bus muestra placa, posición, marca, modelo y capacidad.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consumo de memoria: los datos del modelo no se duplican por bus.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cuando: manejas una enorme cantidad de objetos parecidos y la memoria es un problema real.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84632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intrínseco (compartido)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1344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modelo, capacidad, recurso 3D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extrínseco (propio de cada bus)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1984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placa, latitud, longitud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4688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FBE3E0"/>
          </a:solidFill>
          <a:ln w="12700">
            <a:solidFill>
              <a:srgbClr val="F0B8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0840" y="2468880"/>
            <a:ext cx="1783080" cy="1737360"/>
          </a:xfrm>
          <a:prstGeom prst="roundRect">
            <a:avLst>
              <a:gd name="adj" fmla="val 4211"/>
            </a:avLst>
          </a:prstGeom>
          <a:solidFill>
            <a:srgbClr val="D8F0E4"/>
          </a:solidFill>
          <a:ln w="12700">
            <a:solidFill>
              <a:srgbClr val="A7DA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2560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Flyweight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99 MB</a:t>
            </a:r>
            <a:endParaRPr lang="en-US" sz="320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objetos TipoBus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2560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Flyweight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2834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8E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0,5 MB</a:t>
            </a:r>
            <a:endParaRPr lang="en-US" sz="3200" dirty="0"/>
          </a:p>
        </p:txBody>
      </p:sp>
      <p:sp>
        <p:nvSpPr>
          <p:cNvPr id="40" name="Text 38"/>
          <p:cNvSpPr txBox="1"/>
          <p:nvPr/>
        </p:nvSpPr>
        <p:spPr>
          <a:xfrm>
            <a:off x="6720840" y="3566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objetos TipoBus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en nuestro ejemplo (aproximado)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Flyweight: diagrama de clases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1097280"/>
            <a:ext cx="1920240" cy="2084832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6903720" y="1188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1481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Flyweight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16733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TipoBus (inmutable)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90372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FlyweightFactory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903720" y="2240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TipoBusFactory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2615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903720" y="28072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BusEnRuta (estado extrínseco)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553712"/>
            <a:ext cx="182880" cy="128016"/>
          </a:xfrm>
          <a:prstGeom prst="rect">
            <a:avLst/>
          </a:prstGeom>
          <a:solidFill>
            <a:srgbClr val="5BB4F0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3232" y="4517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control (coordina el flujo)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0" y="4553712"/>
            <a:ext cx="182880" cy="128016"/>
          </a:xfrm>
          <a:prstGeom prst="rect">
            <a:avLst/>
          </a:prstGeom>
          <a:solidFill>
            <a:srgbClr val="3A3F4B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56432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del patrón / dominio</a:t>
            </a:r>
            <a:endParaRPr lang="en-US" sz="900" dirty="0"/>
          </a:p>
        </p:txBody>
      </p:sp>
      <p:pic>
        <p:nvPicPr>
          <p:cNvPr id="57" name="Picture 56" descr="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27" y="960120"/>
            <a:ext cx="4648105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Flyweight: secuencia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para dibujar un bus: la fábrica entrega el TipoBus compartido (lo crea solo la primera vez) y cada BusEnRuta le pasa su estado propio.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1143000"/>
            <a:ext cx="1417320" cy="420624"/>
          </a:xfrm>
          <a:prstGeom prst="rect">
            <a:avLst/>
          </a:prstGeom>
          <a:solidFill>
            <a:srgbClr val="5BB4F0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859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8346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TipoBusFactory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5433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8920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920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TipoBus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007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9494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BusEnRuta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581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85900" y="1929384"/>
            <a:ext cx="2057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37" name="Text 35"/>
          <p:cNvSpPr txBox="1"/>
          <p:nvPr/>
        </p:nvSpPr>
        <p:spPr>
          <a:xfrm>
            <a:off x="1531620" y="17145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obtener(Volvo, B8R, 46)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43300" y="2276856"/>
            <a:ext cx="2057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39" name="Text 37"/>
          <p:cNvSpPr txBox="1"/>
          <p:nvPr/>
        </p:nvSpPr>
        <p:spPr>
          <a:xfrm>
            <a:off x="3589020" y="20619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 TipoBus (1ª vez)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1485900" y="2624328"/>
            <a:ext cx="20574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1" name="Text 39"/>
          <p:cNvSpPr txBox="1"/>
          <p:nvPr/>
        </p:nvSpPr>
        <p:spPr>
          <a:xfrm>
            <a:off x="1531620" y="240944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TipoBus compartido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485900" y="2971800"/>
            <a:ext cx="6172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3" name="Text 41"/>
          <p:cNvSpPr txBox="1"/>
          <p:nvPr/>
        </p:nvSpPr>
        <p:spPr>
          <a:xfrm>
            <a:off x="1531620" y="2756916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new BusEnRuta(placa, lat, lon, tipo)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485900" y="3319272"/>
            <a:ext cx="6172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5" name="Text 43"/>
          <p:cNvSpPr txBox="1"/>
          <p:nvPr/>
        </p:nvSpPr>
        <p:spPr>
          <a:xfrm>
            <a:off x="1531620" y="3104388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dibujar()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5600700" y="3666744"/>
            <a:ext cx="20574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7" name="Text 45"/>
          <p:cNvSpPr txBox="1"/>
          <p:nvPr/>
        </p:nvSpPr>
        <p:spPr>
          <a:xfrm>
            <a:off x="5646420" y="34518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dibujar(placa, lat, lon)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00700" y="4014216"/>
            <a:ext cx="20574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9" name="Text 47"/>
          <p:cNvSpPr txBox="1"/>
          <p:nvPr/>
        </p:nvSpPr>
        <p:spPr>
          <a:xfrm>
            <a:off x="5646420" y="37993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texto del bus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1485900" y="4361688"/>
            <a:ext cx="61722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51" name="Text 49"/>
          <p:cNvSpPr txBox="1"/>
          <p:nvPr/>
        </p:nvSpPr>
        <p:spPr>
          <a:xfrm>
            <a:off x="1531620" y="4146804"/>
            <a:ext cx="6080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texto del bus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Flyweight: código (1/2)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 L20-24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dibujar() usa Locale.US: el punto decimal sale igual sin importar el computador.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 L27-29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clave() static: se calcula sin tener un TipoBus creado — lo que necesita la fábrica.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 L31-33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Versión de instancia de clave(): delega en la static, sin repetir la fórmula.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TipoBusFactory L6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Caché de flyweights: clave → TipoBus ya creado.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TipoBusFactory L8-9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Punto único para pedir un TipoBus.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TipoBusFactory L10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Usa TipoBus.clave(...): la fórmula de identidad vive en un solo lugar.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/>
              </a:rPr>
              <a:t xml:space="preserve">TipoBusFactory L11-12  </a:t>
            </a:r>
            <a:r>
              <a:rPr lang="en-US" sz="900" dirty="0">
                <a:solidFill>
                  <a:srgbClr val="1B2333"/>
                </a:solidFill>
                <a:latin typeface="Calibri"/>
              </a:rPr>
              <a:t xml:space="preserve">Si la clave existe devuelve la misma instancia; si no, la crea y la guarda.</a:t>
            </a:r>
            <a:endParaRPr lang="en-US" sz="900" dirty="0"/>
          </a:p>
        </p:txBody>
      </p:sp>
      <p:pic>
        <p:nvPicPr>
          <p:cNvPr id="32" name="Picture 31" descr="Flyweight  TipoBus java DIA 2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732" y="914400"/>
            <a:ext cx="4073336" cy="2034540"/>
          </a:xfrm>
          <a:prstGeom prst="rect">
            <a:avLst/>
          </a:prstGeom>
        </p:spPr>
      </p:pic>
      <p:pic>
        <p:nvPicPr>
          <p:cNvPr id="33" name="Picture 32" descr="Flyweight  TipoBusFactory java DIA 22 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079" y="3040380"/>
            <a:ext cx="2990641" cy="162648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Flyweight: código (2/2)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BusEnRuta L5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un objeto por cada bus real (hay 5.000).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BusEnRuta L6-8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extrínseco: placa y posición, distintos en cada bus.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BusEnRuta L9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al flyweight: no copia los datos, los comparte.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BusEnRuta L11-17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recibe el TipoBus ya creado.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L53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los 5.000 buses.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L57-58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el modelo a la fábrica: siempre el mismo objeto por modelo.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L59-60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propia de cada bus (estado extrínseco).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L61 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bus con su placa y posición y el TipoBus compartido.</a:t>
            </a:r>
            <a:endParaRPr lang="en-US" sz="850" dirty="0"/>
          </a:p>
        </p:txBody>
      </p:sp>
      <p:pic>
        <p:nvPicPr>
          <p:cNvPr id="32" name="Picture 31" descr="Flyweight   BusEnRutajava DIA 2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680" y="914400"/>
            <a:ext cx="2381439" cy="1974088"/>
          </a:xfrm>
          <a:prstGeom prst="rect">
            <a:avLst/>
          </a:prstGeom>
        </p:spPr>
      </p:pic>
      <p:pic>
        <p:nvPicPr>
          <p:cNvPr id="33" name="Picture 32" descr="Flyweight   Mainjava DIA 23 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091" y="2979928"/>
            <a:ext cx="3914617" cy="16113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Flyweight: pruebas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75788"/>
            <a:ext cx="4800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85800" y="305866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8E5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≈ 99 %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3058668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memoria al compartir 3 objetos TipoBus entre 5.000 buses (medición aproximada; varía según la JVM).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9144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623560" y="987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comprobamos?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126187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buses usan solo 3 objetos TipoBus.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aproximada: 99 MB sin Flyweight contra 567 KB con Flyweight.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bus conserva su placa y su posición propias.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651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596128" y="2724912"/>
            <a:ext cx="256032" cy="256032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576" y="2786360"/>
            <a:ext cx="133137" cy="133137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5925312" y="2724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6235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mucha memoria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recurso pesado se crea una vez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486400" y="37490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596128" y="38221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76" y="3883640"/>
            <a:ext cx="133137" cy="133137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5925312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5623560" y="4096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CPU y más complejidad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compartido debe ser inmutable</a:t>
            </a:r>
            <a:endParaRPr lang="en-US" sz="950" dirty="0"/>
          </a:p>
        </p:txBody>
      </p:sp>
      <p:pic>
        <p:nvPicPr>
          <p:cNvPr id="42" name="Picture 41" descr="FLYWEIGHT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90" y="914400"/>
            <a:ext cx="4677620" cy="17785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4754880" cy="4389120"/>
          </a:xfrm>
          <a:prstGeom prst="ellipse">
            <a:avLst/>
          </a:prstGeom>
          <a:solidFill>
            <a:srgbClr val="E4F2FC"/>
          </a:solidFill>
          <a:ln w="12700">
            <a:solidFill>
              <a:srgbClr val="E4F2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566160"/>
            <a:ext cx="2926080" cy="219456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57200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66928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374904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2612" y="416052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2712" y="502920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534924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5632" y="457200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0496" y="512064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46150"/>
            <a:ext cx="427939" cy="42793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00200" y="548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1508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ESTRUCTURAL  ·  también llamado Sustituto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9202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 un sustituto o intermediario de otro objeto para controlar el acceso a él, actuando antes o después de que la petición llegue al objeto real.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48640" y="34290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cheque bancario: representa el dinero de tu cuenta. Quien lo recibe no toca tu cuenta; el banco valida y controla el acceso.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análisis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123444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reportes gerenciales viven en una base de datos lenta y confidencial. Hay que impedir que cualquiera los consulte, no abrir la conexión hasta que haga falta y no repetir consultas idénticas.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un reporte por su identificador.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roles GERENTE y AUDITOR pueden consultarlo.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abrir la base de datos hasta que se necesite y no repetir consultas iguales.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2245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Úsalo cuando: necesitas crear un objeto costoso al último momento, controlar quién accede o guardar resultados.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46304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4630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146304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14630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680960" y="14630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3AA876"/>
          </a:solidFill>
          <a:ln w="12700">
            <a:solidFill>
              <a:srgbClr val="3AA87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80960" y="14630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real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06440" y="1783080"/>
            <a:ext cx="457200" cy="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7223760" y="1783080"/>
            <a:ext cx="457200" cy="0"/>
          </a:xfrm>
          <a:prstGeom prst="line">
            <a:avLst/>
          </a:prstGeom>
          <a:noFill/>
          <a:ln w="15875">
            <a:solidFill>
              <a:srgbClr val="3A3F4B"/>
            </a:solidFill>
            <a:prstDash val="solid"/>
            <a:tailEnd type="arrow"/>
          </a:ln>
        </p:spPr>
      </p:sp>
      <p:sp>
        <p:nvSpPr>
          <p:cNvPr id="37" name="Text 35"/>
          <p:cNvSpPr txBox="1"/>
          <p:nvPr/>
        </p:nvSpPr>
        <p:spPr>
          <a:xfrm>
            <a:off x="484632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interfaz: el cliente no nota la diferencia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del mismo proxy en nuestro ejemplo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306324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0632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943600" y="30632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GERENTE y AUDITOR acceden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46320" y="3538728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6325C"/>
          </a:solidFill>
          <a:ln w="12700">
            <a:solidFill>
              <a:srgbClr val="16325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35387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943600" y="35387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BD recién en la 1ª consulta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46320" y="4014216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46320" y="40142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943600" y="4014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la consulta en ~0 ms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diagrama de clases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66560" y="2194560"/>
            <a:ext cx="1920240" cy="2084832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90372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903720" y="25786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3145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RealSubject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903720" y="3337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RepositorioReportesReal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903720" y="37124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39044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553712"/>
            <a:ext cx="182880" cy="128016"/>
          </a:xfrm>
          <a:prstGeom prst="rect">
            <a:avLst/>
          </a:prstGeom>
          <a:solidFill>
            <a:srgbClr val="5BB4F0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13232" y="45171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control (coordina el flujo)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4553712"/>
            <a:ext cx="182880" cy="128016"/>
          </a:xfrm>
          <a:prstGeom prst="rect">
            <a:avLst/>
          </a:prstGeom>
          <a:solidFill>
            <a:srgbClr val="3A3F4B"/>
          </a:solidFill>
          <a:ln w="9525">
            <a:solidFill>
              <a:srgbClr val="3A3F4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456432" y="45171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del patrón / dominio</a:t>
            </a:r>
            <a:endParaRPr lang="en-US" sz="900" dirty="0"/>
          </a:p>
        </p:txBody>
      </p:sp>
      <p:pic>
        <p:nvPicPr>
          <p:cNvPr id="56" name="Picture 55" descr="cl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55" y="960120"/>
            <a:ext cx="3738449" cy="35935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secuencia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841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para consultar un reporte: el proxy decide; solo la primera vez llega al objeto real (la segunda responde el caché).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20140" y="1143000"/>
            <a:ext cx="1417320" cy="420624"/>
          </a:xfrm>
          <a:prstGeom prst="rect">
            <a:avLst/>
          </a:prstGeom>
          <a:solidFill>
            <a:srgbClr val="5BB4F0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201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8633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33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606540" y="1143000"/>
            <a:ext cx="1417320" cy="420624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06540" y="11430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RepositorioReportesReal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0" y="1563624"/>
            <a:ext cx="0" cy="3099816"/>
          </a:xfrm>
          <a:prstGeom prst="line">
            <a:avLst/>
          </a:prstGeom>
          <a:noFill/>
          <a:ln w="12700">
            <a:solidFill>
              <a:srgbClr val="9AA7BD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828800" y="1929384"/>
            <a:ext cx="2743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34" name="Text 32"/>
          <p:cNvSpPr txBox="1"/>
          <p:nvPr/>
        </p:nvSpPr>
        <p:spPr>
          <a:xfrm>
            <a:off x="1874520" y="17145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obtenerReporte(REP-2026-09)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26864" y="2157984"/>
            <a:ext cx="1828800" cy="256032"/>
          </a:xfrm>
          <a:prstGeom prst="roundRect">
            <a:avLst>
              <a:gd name="adj" fmla="val 14286"/>
            </a:avLst>
          </a:prstGeom>
          <a:solidFill>
            <a:srgbClr val="E6F2FB"/>
          </a:solidFill>
          <a:ln w="9525">
            <a:solidFill>
              <a:srgbClr val="5BB4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63440" y="215798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rol GERENTE: permitido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2624328"/>
            <a:ext cx="2743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38" name="Text 36"/>
          <p:cNvSpPr txBox="1"/>
          <p:nvPr/>
        </p:nvSpPr>
        <p:spPr>
          <a:xfrm>
            <a:off x="4617720" y="24094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new (1ª vez, ~0,8 s)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2971800"/>
            <a:ext cx="2743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0" name="Text 38"/>
          <p:cNvSpPr txBox="1"/>
          <p:nvPr/>
        </p:nvSpPr>
        <p:spPr>
          <a:xfrm>
            <a:off x="4617720" y="27569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obtenerReporte(id)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 flipH="1">
            <a:off x="4572000" y="3319272"/>
            <a:ext cx="27432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2" name="Text 40"/>
          <p:cNvSpPr txBox="1"/>
          <p:nvPr/>
        </p:nvSpPr>
        <p:spPr>
          <a:xfrm>
            <a:off x="4617720" y="31043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contenido (~1 s)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 flipH="1">
            <a:off x="1828800" y="3666744"/>
            <a:ext cx="27432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4" name="Text 42"/>
          <p:cNvSpPr txBox="1"/>
          <p:nvPr/>
        </p:nvSpPr>
        <p:spPr>
          <a:xfrm>
            <a:off x="1874520" y="34518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contenido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0" y="4014216"/>
            <a:ext cx="2743200" cy="0"/>
          </a:xfrm>
          <a:prstGeom prst="line">
            <a:avLst/>
          </a:prstGeom>
          <a:noFill/>
          <a:ln w="13970">
            <a:solidFill>
              <a:srgbClr val="3A3F4B"/>
            </a:solidFill>
            <a:prstDash val="solid"/>
            <a:tailEnd type="arrow"/>
          </a:ln>
        </p:spPr>
      </p:sp>
      <p:sp>
        <p:nvSpPr>
          <p:cNvPr id="46" name="Text 44"/>
          <p:cNvSpPr txBox="1"/>
          <p:nvPr/>
        </p:nvSpPr>
        <p:spPr>
          <a:xfrm>
            <a:off x="1874520" y="37993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obtenerReporte(REP-2026-09)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 flipH="1">
            <a:off x="1828800" y="4361688"/>
            <a:ext cx="2743200" cy="0"/>
          </a:xfrm>
          <a:prstGeom prst="line">
            <a:avLst/>
          </a:prstGeom>
          <a:noFill/>
          <a:ln w="13970">
            <a:solidFill>
              <a:srgbClr val="5B6577"/>
            </a:solidFill>
            <a:prstDash val="dash"/>
            <a:tailEnd type="arrow"/>
          </a:ln>
        </p:spPr>
      </p:sp>
      <p:sp>
        <p:nvSpPr>
          <p:cNvPr id="48" name="Text 46"/>
          <p:cNvSpPr txBox="1"/>
          <p:nvPr/>
        </p:nvSpPr>
        <p:spPr>
          <a:xfrm>
            <a:off x="1874520" y="41468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desde caché (~0 ms)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código (1/3)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 L2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común del objeto real y del proxy: el cliente solo conoce esta interfaz.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 L3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operación: pedir un reporte por su id.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RepositorioReportesReal L2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Sujeto real: hace el trabajo caro.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RepositorioReportesReal L3-7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Crearlo es costoso: simula abrir la conexión (0,8 s).</a:t>
            </a:r>
            <a:endParaRPr lang="en-US" sz="900" dirty="0"/>
          </a:p>
        </p:txBody>
      </p:sp>
      <p:pic>
        <p:nvPicPr>
          <p:cNvPr id="32" name="Picture 31" descr="Proxy RepositorioReportes java DIA 29 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623" y="914400"/>
            <a:ext cx="3345554" cy="810387"/>
          </a:xfrm>
          <a:prstGeom prst="rect">
            <a:avLst/>
          </a:prstGeom>
        </p:spPr>
      </p:pic>
      <p:pic>
        <p:nvPicPr>
          <p:cNvPr id="33" name="Picture 32" descr="Proxy RepositorioReportesRealjava DIA 29 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16" y="1816227"/>
            <a:ext cx="4818368" cy="12184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código (2/3)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 L11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proxy implementa la misma interfaz que el objeto real.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 L12-13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quien pide; sirven para decidir el acceso.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 L14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al objeto real; empieza en null (aún no se crea).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 L15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de reportes ya consultados.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ProxyReportes L17-20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usuario y rol; NO abre la conexión.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L24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usa la interfaz: no sabe que es un proxy.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L25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consulta: aquí se crea el objeto real (~1,8 s).</a:t>
            </a:r>
            <a:endParaRPr lang="en-US" sz="900" dirty="0"/>
          </a:p>
        </p:txBody>
      </p:sp>
      <p:pic>
        <p:nvPicPr>
          <p:cNvPr id="32" name="Picture 31" descr="Proxy ProxyReportes java DIA 3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241" y="914400"/>
            <a:ext cx="2634317" cy="1686941"/>
          </a:xfrm>
          <a:prstGeom prst="rect">
            <a:avLst/>
          </a:prstGeom>
        </p:spPr>
      </p:pic>
      <p:pic>
        <p:nvPicPr>
          <p:cNvPr id="33" name="Picture 32" descr="Proxy Main java DIA 3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155" y="2692781"/>
            <a:ext cx="2354489" cy="6592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código (3/3)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0760" y="914400"/>
            <a:ext cx="2606040" cy="3794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99632" y="9875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1261872"/>
            <a:ext cx="23957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L24-25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cada acceso (proxy de logging).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L28-31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Protección: solo GERENTE o AUDITOR; otros reciben null sin tocar la BD.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L33-37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Caché: si ya se consultó, responde sin ir a la BD.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L39-41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perezosa: el objeto real se crea la primera vez que hace falta.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L42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 en el objeto real (consulta lenta).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L43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resultado para la próxima vez.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L44  </a:t>
            </a:r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el reporte.</a:t>
            </a:r>
            <a:endParaRPr lang="en-US" sz="900" dirty="0"/>
          </a:p>
        </p:txBody>
      </p:sp>
      <p:pic>
        <p:nvPicPr>
          <p:cNvPr id="29" name="Picture 28" descr="Proxy  ProxyReportes java DIA 31 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67" y="914400"/>
            <a:ext cx="4660265" cy="31831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Proxy: pruebas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157216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57216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Análisis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Diseño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49440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6F2FB"/>
          </a:solidFill>
          <a:ln w="12700">
            <a:solidFill>
              <a:srgbClr val="E6F2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Código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45552" y="347472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45552" y="3474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Pruebas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9144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623560" y="9875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comprobamos?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1261872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practicante recibe acceso denegado y la BD no se toca.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gerente: 1ª consulta ≈ 1,8 s; la misma consulta después ≈ 0 ms.</a:t>
            </a:r>
            <a:endParaRPr lang="en-US" sz="10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reporte reutiliza el objeto real ya creado (≈ 1 s).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0" y="265176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96128" y="2724912"/>
            <a:ext cx="256032" cy="256032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576" y="2786360"/>
            <a:ext cx="133137" cy="13313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925312" y="2724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6235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acceso sin que el cliente lo note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el objeto real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0" y="37490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596128" y="382219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576" y="3883640"/>
            <a:ext cx="133137" cy="133137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5925312" y="38221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5623560" y="40965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clases y código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añadir latencia</a:t>
            </a:r>
            <a:endParaRPr lang="en-US" sz="950" dirty="0"/>
          </a:p>
        </p:txBody>
      </p:sp>
      <p:pic>
        <p:nvPicPr>
          <p:cNvPr id="39" name="Picture 38" descr="PROXY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01" y="914400"/>
            <a:ext cx="4242997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Comparación de patrones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2377440"/>
                <a:gridCol w="19202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Nuestro 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3F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comportamiento en ejecución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misma que el objeto envuelto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 de un tiquete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Simplificar un subsistema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Nueva, más simple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 de tiquete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Ahorrar memoria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Recibe el estado propio por parámetro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Buses en el mapa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A3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Controlar el acceso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misma que el objeto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 protegidos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57200" y="34290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vs. Proxy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7947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envuelven a un objeto con su misma interfaz. Decorator agrega funcionalidad y el cliente decide cuántas capas apilar; Proxy controla el acceso y normalmente gestiona él mismo el ciclo de vida del objeto real.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Demostración en vivo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la demo (mismo procedimiento para cada patrón):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28016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1408176"/>
            <a:ext cx="347472" cy="347472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133502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proyecto en el IDE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1335024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las clases del patrón y la clase de control (Main).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199339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2121408"/>
            <a:ext cx="347472" cy="347472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482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2048256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-encoding UTF-8 -d out src/*.java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70662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2834640"/>
            <a:ext cx="347472" cy="347472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27614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paso a paso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2761488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-cp out Main --pausas   (Enter avanza cada caso)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41985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3547872"/>
            <a:ext cx="347472" cy="347472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436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34747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lo esperado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840480" y="3474720"/>
            <a:ext cx="4754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la diapositiva de pruebas y verificar cada resultado.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exponer: verificar java -version y probar todo en el computador que se usará en clase.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2926080"/>
            <a:ext cx="4754880" cy="3474720"/>
          </a:xfrm>
          <a:prstGeom prst="ellipse">
            <a:avLst/>
          </a:prstGeom>
          <a:solidFill>
            <a:srgbClr val="E4F2FC"/>
          </a:solidFill>
          <a:ln w="12700">
            <a:solidFill>
              <a:srgbClr val="E4F2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19456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457200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566928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374904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82612" y="416052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82712" y="502920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716" y="534924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5632" y="457200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40496" y="512064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5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7D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Decorator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en vez de herencia para extender comportamiento.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4632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7D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Facade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 entrada simple reduce el acoplamiento.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7D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Flyweight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estado inmutable ahorra memoria a gran escala.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846320" y="2377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7DB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Proxy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2743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intermediario permite proteger, retrasar y cachear.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2E323D"/>
          </a:solidFill>
          <a:ln w="12700">
            <a:solidFill>
              <a:srgbClr val="2E32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ejecutar los proyectos (Java 11+)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decorator   (o facade, flyweight, proxy)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-encoding UTF-8 -d out src/*.java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-cp out Main --pausas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3291840"/>
            <a:ext cx="3840480" cy="292608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188720"/>
            <a:ext cx="2377440" cy="1828800"/>
          </a:xfrm>
          <a:prstGeom prst="ellipse">
            <a:avLst/>
          </a:prstGeom>
          <a:solidFill>
            <a:srgbClr val="EDF6FD"/>
          </a:solidFill>
          <a:ln w="12700">
            <a:solidFill>
              <a:srgbClr val="EDF6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46304"/>
            <a:ext cx="822960" cy="109728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256032"/>
            <a:ext cx="548640" cy="0"/>
          </a:xfrm>
          <a:prstGeom prst="line">
            <a:avLst/>
          </a:prstGeom>
          <a:noFill/>
          <a:ln w="9525">
            <a:solidFill>
              <a:srgbClr val="3A3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64008"/>
            <a:ext cx="164592" cy="164592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5492" y="105156"/>
            <a:ext cx="82296" cy="82296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192024"/>
            <a:ext cx="128016" cy="12801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9AD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97596" y="224028"/>
            <a:ext cx="64008" cy="64008"/>
          </a:xfrm>
          <a:prstGeom prst="ellipse">
            <a:avLst/>
          </a:prstGeom>
          <a:solidFill>
            <a:srgbClr val="9AD0F5"/>
          </a:solidFill>
          <a:ln w="12700">
            <a:solidFill>
              <a:srgbClr val="9AD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2" y="146304"/>
            <a:ext cx="219456" cy="219456"/>
          </a:xfrm>
          <a:prstGeom prst="ellipse">
            <a:avLst/>
          </a:prstGeom>
          <a:solidFill>
            <a:srgbClr val="E6F2FB"/>
          </a:solidFill>
          <a:ln w="19050">
            <a:solidFill>
              <a:srgbClr val="5BB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201168"/>
            <a:ext cx="109728" cy="109728"/>
          </a:xfrm>
          <a:prstGeom prst="ellipse">
            <a:avLst/>
          </a:prstGeom>
          <a:solidFill>
            <a:srgbClr val="5BB4F0"/>
          </a:solidFill>
          <a:ln w="12700">
            <a:solidFill>
              <a:srgbClr val="5BB4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43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3F4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3 · Patrones de Diseño 2026-2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E., Helm, R., Johnson, R. y Vlissides, J. (1994). Design Patterns: Elements of Reusable Object-Oriented Software. Addison-Wesley.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Refactoring.Guru. Decorator: https://refactoring.guru/design-patterns/decorator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Refactoring.Guru. Facade: https://refactoring.guru/design-patterns/facade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Refactoring.Guru. Flyweight: https://refactoring.guru/design-patterns/flyweight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Refactoring.Guru. Proxy: https://refactoring.guru/design-patterns/proxy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en Java: elaboración del grupo (carpeta de proyectos adjunta).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Patrones estructurales: Decorator, Facade, Flyweight y Proxy</dc:title>
  <dc:subject>PptxGenJS Presentation</dc:subject>
  <dc:creator>Grupo 3</dc:creator>
  <cp:lastModifiedBy>Grupo 3</cp:lastModifiedBy>
  <cp:revision>1</cp:revision>
  <dcterms:created xsi:type="dcterms:W3CDTF">2026-09-27T02:52:43Z</dcterms:created>
  <dcterms:modified xsi:type="dcterms:W3CDTF">2026-09-27T02:52:43Z</dcterms:modified>
</cp:coreProperties>
</file>