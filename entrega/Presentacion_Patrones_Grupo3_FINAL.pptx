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Presentamos cuatro patrones estructurales. Para cada uno mostramos el proceso completo: análisis, diseño (clases y secuencia), código explicado línea a línea y ejecución en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Agenda: cada patrón sigue el mismo proceso de cuatro fases.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que no solo mostramos el código: mostramos cómo se llega a él (análisis, diseño), lo explicamos línea por línea y lo ejecutamos en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Definición: Decorator añade responsabilidades a un objeto envolviéndolo en otro que implementa la misma interfaz. También se llama Wrapper.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Análisis: tiquetes de bus con extras. RF1 a RF3 y el requerimiento no funcional de extender sin modificar. Con herencia serían 8 subclases para 3 extras y se duplican con cada extra nuevo.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Diagrama de clases: Main es la clase de control (crea y apila los objetos). Tiquete es la interfaz; TiqueteBasico y TiqueteDecorator la implementan; el decorador guarda un Tiquete (envuelto) y los decoradores concretos heredan de él.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Secuencia: la llamada costo() baja capa por capa hasta el tiquete básico y el precio sube sumando lo de cada capa.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 el código en este orden:
Tiquete.java L2: Componente: el contrato común. El tiquete básico y todos los decoradores lo implementan.
Tiquete.java L3-4: Dos operaciones: qué incluye el tiquete y cuánto cuesta.
TiqueteDecorator.java L5: Decorador base: implementa Tiquete, así que se usa donde se espera un tiquete.
TiqueteDecorator.java L6: Guarda el tiquete que envuelve (composición).
TiqueteDecorator.java L8-10: El constructor recibe el objeto a decorar.
TiqueteDecorator.java L13-15: descripcion() delega en el objeto envuelto.
TiqueteDecorator.java L18-20: costo() también delega; los decoradores concretos lo sobrescriben y suman su 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 el código en este orden:
SeguroViaje.java L2: Decorador concreto: extiende TiqueteDecorator (hereda envuelto y la delegación).
SeguroViaje.java L3-5: super(envuelto) entrega el tiquete al decorador base.
SeguroViaje.java L8-10: Llama a super y agrega el texto del seguro.
SeguroViaje.java L13-15: Llama a super (precio hasta ahora) y suma 3.500.
Main.java L35: El tiquete básico: la capa más interna.
Main.java L36-37: Se apilan de adentro hacia afuera: seguro, equipaje (10 kg) y refrigerio.
Main.java L38: Cada capa suma su parte: 85.000 + 3.500 + 12.000 + 8.000 = 108.500.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la ejecución en vivo con java -cp out Main --pausas y comprobar los totales.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Definición: Facade ofrece una interfaz simple a un subsistema complejo. Piensen en la recepción de un hotel.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Análisis: comprar un tiquete toca inventario, pago, facturación y notificaciones. Sin fachada, cada cliente tiene que conocer los cuatro y el orden correcto.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Diagrama de clases: Main es la clase de control y solo depende de VentaTiquetesFacade; la fachada tiene referencias a los cuatro subsistemas y expone comprarTiquete.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Secuencia: una llamada del cliente y la fachada realiza los seis pasos en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 el código en este orden:
InventarioSillas.java L5: Un subsistema de ejemplo: sabe qué sillas están ocupadas. Hay otros tres: pago, facturación y notificaciones.
InventarioSillas.java L6: Estado interno: conjunto de sillas ocupadas.
InventarioSillas.java L8-11: Consulta si la silla está libre. Sin fachada, cada cliente tendría que llamarlo.
VentaTiquetesFacade.java L6: La fachada: la única clase que el cliente necesita conocer.
VentaTiquetesFacade.java L7-11: Tiene una referencia a cada subsistema; el cliente no las ve.
VentaTiquetesFacade.java L13-14: Un solo método público recibe todos los datos de la compra.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 el código en este orden:
VentaTiquetesFacade.java L15: Traza en consola: inicio de la operación.
VentaTiquetesFacade.java L17-20: Paso 1: si la silla está ocupada, cancela y devuelve false.
VentaTiquetesFacade.java L21-24: Paso 2: valida el medio de pago antes de cobrar.
VentaTiquetesFacade.java L25: Paso 3: reserva la silla.
VentaTiquetesFacade.java L26: Paso 4: cobra y guarda el código de transacción.
VentaTiquetesFacade.java L27-28: Paso 5: genera la factura con esa transacción.
VentaTiquetesFacade.java L29: Paso 6: envía la confirmación al correo.
VentaTiquetesFacade.java L31: Devuelve true: compra exitosa.
Main.java L28-29: El cliente hace UNA llamada; antes eran seis pasos.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la ejecución en vivo. Señalar el intento sobre la silla 7 ocupada.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Definición: Flyweight ahorra memoria compartiendo el estado común entre muchos objetos.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Análisis: mapa de monitoreo de buses. Estado intrínseco (compartido) y extrínseco (propio). Medición aproximada con 5.000 buses: unos 99 MB sin Flyweight contra unos 0,5 MB con Flyweight; depende de la JVM.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Diagrama de clases: Main es la clase de control; BusEnRuta es el contexto; TipoBus es el flyweight inmutable; TipoBusFactory garantiza una instancia por combinación marca-modelo-capacidad.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Secuencia: la fábrica crea el TipoBus solo la primera vez y después lo reutiliza.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 el código en este orden:
TipoBus.java L6: Flyweight: final e inmutable, porque se comparte entre muchos buses.
TipoBus.java L7-9: Estado intrínseco: igual para todos los buses del mismo modelo.
TipoBus.java L10: Recurso pesado simulado (~20 KB): lo que no queremos duplicar.
TipoBus.java L12-17: Solo se ejecuta al crear un modelo nuevo.
TipoBusFactory.java L6: Caché de flyweights: clave → TipoBus ya creado.
TipoBusFactory.java L8-9: Punto único para pedir un TipoBus.
TipoBusFactory.java L10: La clave identifica el modelo: marca|modelo|capacidad.
TipoBusFactory.java L11-12: Si la clave existe devuelve la misma instancia; si no, la crea y la guarda.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 el código en este orden:
BusEnRuta.java L5: Contexto: un objeto por cada bus real (hay 5.000).
BusEnRuta.java L6-8: Estado extrínseco: placa y posición, distintos en cada bus.
BusEnRuta.java L9: Referencia al flyweight: no copia los datos, los comparte.
BusEnRuta.java L11-17: El constructor recibe el TipoBus ya creado.
Main.java L53: Lista de los 5.000 buses.
Main.java L57-58: Pide el modelo a la fábrica: siempre el mismo objeto por modelo.
Main.java L59-60: Posición propia de cada bus (estado extrínseco).
Main.java L61: Crea el bus con su placa y posición y el TipoBus compartido.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Ejecutar en vivo. Recordar que las cifras de memoria pueden variar un poco entre ejecuciones.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Definición: Proxy es un sustituto que controla el acceso a otro objeto y comparte su interfaz.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Análisis: reportes gerenciales. El mismo proxy hace protección, creación perezosa (virtual) y caché.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Diagrama de clases: Main es la clase de control y solo conoce la interfaz. El objeto real y el proxy la implementan; el proxy tiene una referencia al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Secuencia: la primera consulta llega al objeto real; la segunda se responde desde el caché.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 el código en este orden:
RepositorioReportes.java L2: Contrato común del objeto real y del proxy: el cliente solo conoce esta interfaz.
RepositorioReportes.java L3: Una operación: pedir un reporte por su id.
RepositorioReportesReal.java L2: Sujeto real: hace el trabajo caro.
RepositorioReportesReal.java L3-7: Crearlo es costoso: simula abrir la conexión (0,8 s).
Complemento: en el mismo archivo, obtenerReporte() del objeto real espera 1 s y devuelve el contenido (líneas 8-13).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 el código en este orden:
ProxyReportes.java L11: El proxy implementa la misma interfaz que el objeto real.
ProxyReportes.java L12-13: Datos de quien pide; sirven para decidir el acceso.
ProxyReportes.java L14: Referencia al objeto real; empieza en null (aún no se crea).
ProxyReportes.java L15: Caché de reportes ya consultados.
ProxyReportes.java L17-20: Guarda usuario y rol; NO abre la conexión.
Main.java L24: El cliente usa la interfaz: no sabe que es un proxy.
Main.java L25: Primera consulta: aquí se crea el objeto real (~1,8 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 el código en este orden:
ProxyReportes.java L24-25: Registro de cada acceso (proxy de logging).
ProxyReportes.java L28-31: Protección: solo GERENTE o AUDITOR; otros reciben null sin tocar la BD.
ProxyReportes.java L33-37: Caché: si ya se consultó, responde sin ir a la BD.
ProxyReportes.java L39-41: Creación perezosa: el objeto real se crea la primera vez que hace falta.
ProxyReportes.java L42: Delega en el objeto real (consulta lenta).
ProxyReportes.java L43: Guarda el resultado para la próxima vez.
ProxyReportes.java L44: Devuelve el reporte.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Ejecutar en vivo con --pausas para narrar cada caso.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Punto clave: Decorator y Proxy tienen estructura parecida pero distinta intención.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ejecución se hace en vivo. Con --pausas el programa espera Enter entre casos, para explicar lo que va apareciendo.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 consultadas.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9.jpg"/><Relationship Id="rId4" Type="http://schemas.openxmlformats.org/officeDocument/2006/relationships/image" Target="../media/image1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jpg"/><Relationship Id="rId4" Type="http://schemas.openxmlformats.org/officeDocument/2006/relationships/image" Target="../media/image1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5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jpg"/><Relationship Id="rId4" Type="http://schemas.openxmlformats.org/officeDocument/2006/relationships/image" Target="../media/image14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jpg"/><Relationship Id="rId4" Type="http://schemas.openxmlformats.org/officeDocument/2006/relationships/image" Target="../media/image16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5" Type="http://schemas.openxmlformats.org/officeDocument/2006/relationships/image" Target="../media/image3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7.jpg"/><Relationship Id="rId4" Type="http://schemas.openxmlformats.org/officeDocument/2006/relationships/image" Target="../media/image1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9.jpg"/><Relationship Id="rId4" Type="http://schemas.openxmlformats.org/officeDocument/2006/relationships/image" Target="../media/image2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5" Type="http://schemas.openxmlformats.org/officeDocument/2006/relationships/image" Target="../media/image4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640080"/>
            <a:ext cx="4480560" cy="4023360"/>
          </a:xfrm>
          <a:prstGeom prst="ellipse">
            <a:avLst/>
          </a:prstGeom>
          <a:solidFill>
            <a:srgbClr val="CFE8F9"/>
          </a:solidFill>
          <a:ln w="12700">
            <a:solidFill>
              <a:srgbClr val="CFE8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09360" y="457200"/>
            <a:ext cx="822960" cy="109728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132320" y="566928"/>
            <a:ext cx="548640" cy="0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27064" y="374904"/>
            <a:ext cx="164592" cy="164592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68212" y="416052"/>
            <a:ext cx="82296" cy="82296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68312" y="502920"/>
            <a:ext cx="128016" cy="12801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9AD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00316" y="534924"/>
            <a:ext cx="64008" cy="64008"/>
          </a:xfrm>
          <a:prstGeom prst="ellipse">
            <a:avLst/>
          </a:prstGeom>
          <a:solidFill>
            <a:srgbClr val="9AD0F5"/>
          </a:solidFill>
          <a:ln w="12700">
            <a:solidFill>
              <a:srgbClr val="9AD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71232" y="457200"/>
            <a:ext cx="219456" cy="21945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26096" y="512064"/>
            <a:ext cx="109728" cy="109728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234440"/>
            <a:ext cx="1828800" cy="1188720"/>
          </a:xfrm>
          <a:prstGeom prst="roundRect">
            <a:avLst>
              <a:gd name="adj" fmla="val 3846"/>
            </a:avLst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96112" y="1307592"/>
            <a:ext cx="1682496" cy="1042416"/>
          </a:xfrm>
          <a:prstGeom prst="rect">
            <a:avLst/>
          </a:prstGeom>
          <a:solidFill>
            <a:srgbClr val="2B2F39"/>
          </a:solidFill>
          <a:ln w="12700">
            <a:solidFill>
              <a:srgbClr val="2B2F3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05840" y="1516761"/>
            <a:ext cx="731520" cy="45720"/>
          </a:xfrm>
          <a:prstGeom prst="rect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5840" y="1708739"/>
            <a:ext cx="1097280" cy="45720"/>
          </a:xfrm>
          <a:prstGeom prst="rect">
            <a:avLst/>
          </a:prstGeom>
          <a:solidFill>
            <a:srgbClr val="9AD0F5"/>
          </a:solidFill>
          <a:ln w="12700">
            <a:solidFill>
              <a:srgbClr val="9AD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5840" y="1900718"/>
            <a:ext cx="585216" cy="45720"/>
          </a:xfrm>
          <a:prstGeom prst="rect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2092696"/>
            <a:ext cx="877824" cy="45720"/>
          </a:xfrm>
          <a:prstGeom prst="rect">
            <a:avLst/>
          </a:prstGeom>
          <a:solidFill>
            <a:srgbClr val="9AD0F5"/>
          </a:solidFill>
          <a:ln w="12700">
            <a:solidFill>
              <a:srgbClr val="9AD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64208" y="2423160"/>
            <a:ext cx="146304" cy="256032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0" y="2679192"/>
            <a:ext cx="731520" cy="45720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77440" y="1737360"/>
            <a:ext cx="1920240" cy="1280160"/>
          </a:xfrm>
          <a:prstGeom prst="roundRect">
            <a:avLst>
              <a:gd name="adj" fmla="val 3571"/>
            </a:avLst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450592" y="1810512"/>
            <a:ext cx="1773936" cy="1133856"/>
          </a:xfrm>
          <a:prstGeom prst="rect">
            <a:avLst/>
          </a:prstGeom>
          <a:solidFill>
            <a:srgbClr val="2B2F39"/>
          </a:solidFill>
          <a:ln w="12700">
            <a:solidFill>
              <a:srgbClr val="2B2F3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60320" y="2041398"/>
            <a:ext cx="777240" cy="45720"/>
          </a:xfrm>
          <a:prstGeom prst="rect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60320" y="2248144"/>
            <a:ext cx="1165860" cy="45720"/>
          </a:xfrm>
          <a:prstGeom prst="rect">
            <a:avLst/>
          </a:prstGeom>
          <a:solidFill>
            <a:srgbClr val="9AD0F5"/>
          </a:solidFill>
          <a:ln w="12700">
            <a:solidFill>
              <a:srgbClr val="9AD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60320" y="2454890"/>
            <a:ext cx="621792" cy="45720"/>
          </a:xfrm>
          <a:prstGeom prst="rect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60320" y="2661636"/>
            <a:ext cx="932688" cy="45720"/>
          </a:xfrm>
          <a:prstGeom prst="rect">
            <a:avLst/>
          </a:prstGeom>
          <a:solidFill>
            <a:srgbClr val="9AD0F5"/>
          </a:solidFill>
          <a:ln w="12700">
            <a:solidFill>
              <a:srgbClr val="9AD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64408" y="3017520"/>
            <a:ext cx="146304" cy="256032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71800" y="3273552"/>
            <a:ext cx="731520" cy="45720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611880"/>
            <a:ext cx="3931920" cy="64008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3063240"/>
            <a:ext cx="502920" cy="502920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4846320" y="9601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CR-3 T-1 · EXPO PATRONES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4846320" y="132588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Patrones estructurales</a:t>
            </a:r>
            <a:endParaRPr lang="en-US" sz="4600" dirty="0"/>
          </a:p>
        </p:txBody>
      </p:sp>
      <p:sp>
        <p:nvSpPr>
          <p:cNvPr id="31" name="Text 28"/>
          <p:cNvSpPr txBox="1"/>
          <p:nvPr/>
        </p:nvSpPr>
        <p:spPr>
          <a:xfrm>
            <a:off x="4846320" y="27889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5BB4F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Decorator · Facade · Flyweight · Proxy</a:t>
            </a:r>
            <a:endParaRPr lang="en-US" sz="2000" dirty="0"/>
          </a:p>
        </p:txBody>
      </p:sp>
      <p:sp>
        <p:nvSpPr>
          <p:cNvPr id="32" name="Text 29"/>
          <p:cNvSpPr txBox="1"/>
          <p:nvPr/>
        </p:nvSpPr>
        <p:spPr>
          <a:xfrm>
            <a:off x="4846320" y="342900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Santiago José Rodríguez Gutiérrez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Camilo Andrés Díaz García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Nicolás Steven Pérez Chuscano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4846320" y="44348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Patrones de Diseño de Software · 2026-2 G02 · Universidad Sergio Arboleda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3291840"/>
            <a:ext cx="3840480" cy="292608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188720"/>
            <a:ext cx="2377440" cy="182880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146304"/>
            <a:ext cx="822960" cy="109728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256032"/>
            <a:ext cx="548640" cy="0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24344" y="64008"/>
            <a:ext cx="164592" cy="164592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65492" y="105156"/>
            <a:ext cx="82296" cy="82296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65592" y="192024"/>
            <a:ext cx="128016" cy="12801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9AD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97596" y="224028"/>
            <a:ext cx="64008" cy="64008"/>
          </a:xfrm>
          <a:prstGeom prst="ellipse">
            <a:avLst/>
          </a:prstGeom>
          <a:solidFill>
            <a:srgbClr val="9AD0F5"/>
          </a:solidFill>
          <a:ln w="12700">
            <a:solidFill>
              <a:srgbClr val="9AD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68512" y="146304"/>
            <a:ext cx="219456" cy="21945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23376" y="201168"/>
            <a:ext cx="109728" cy="109728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7432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¿Qué vamos a ver?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502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3 · Patrones de Diseño 2026-2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9601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cuatro son patrones estructurales: organizan cómo se componen clases y objetos. Cada uno responde a un problema distinto.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169164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1920240"/>
            <a:ext cx="640080" cy="640080"/>
          </a:xfrm>
          <a:prstGeom prst="ellipse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699" y="2073859"/>
            <a:ext cx="332842" cy="332842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463040" y="18745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Decorator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22860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Añadir responsabilidades a un objeto en ejecución, sin subclases.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617720" y="169164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800600" y="1920240"/>
            <a:ext cx="640080" cy="640080"/>
          </a:xfrm>
          <a:prstGeom prst="ellipse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4219" y="2073859"/>
            <a:ext cx="332842" cy="332842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623560" y="18745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Facade</a:t>
            </a:r>
            <a:endParaRPr lang="en-US" sz="2000" dirty="0"/>
          </a:p>
        </p:txBody>
      </p:sp>
      <p:sp>
        <p:nvSpPr>
          <p:cNvPr id="26" name="Text 22"/>
          <p:cNvSpPr txBox="1"/>
          <p:nvPr/>
        </p:nvSpPr>
        <p:spPr>
          <a:xfrm>
            <a:off x="5623560" y="22860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interfaz simple para un subsistema complejo.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457200" y="320040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40080" y="3429000"/>
            <a:ext cx="640080" cy="640080"/>
          </a:xfrm>
          <a:prstGeom prst="ellipse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699" y="3582619"/>
            <a:ext cx="332842" cy="332842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1463040" y="33832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Flyweight</a:t>
            </a:r>
            <a:endParaRPr lang="en-US" sz="2000" dirty="0"/>
          </a:p>
        </p:txBody>
      </p:sp>
      <p:sp>
        <p:nvSpPr>
          <p:cNvPr id="31" name="Text 26"/>
          <p:cNvSpPr txBox="1"/>
          <p:nvPr/>
        </p:nvSpPr>
        <p:spPr>
          <a:xfrm>
            <a:off x="1463040" y="379476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Ahorrar memoria compartiendo el estado común.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4617720" y="320040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33" name="Shape 28"/>
          <p:cNvSpPr/>
          <p:nvPr/>
        </p:nvSpPr>
        <p:spPr>
          <a:xfrm>
            <a:off x="4800600" y="3429000"/>
            <a:ext cx="640080" cy="640080"/>
          </a:xfrm>
          <a:prstGeom prst="ellipse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4219" y="3582619"/>
            <a:ext cx="332842" cy="332842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5623560" y="33832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Proxy</a:t>
            </a:r>
            <a:endParaRPr lang="en-US" sz="2000" dirty="0"/>
          </a:p>
        </p:txBody>
      </p:sp>
      <p:sp>
        <p:nvSpPr>
          <p:cNvPr id="36" name="Text 30"/>
          <p:cNvSpPr txBox="1"/>
          <p:nvPr/>
        </p:nvSpPr>
        <p:spPr>
          <a:xfrm>
            <a:off x="5623560" y="379476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Controlar el acceso a otro objeto: proteger, retrasar, cachear.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3291840"/>
            <a:ext cx="3840480" cy="292608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188720"/>
            <a:ext cx="2377440" cy="182880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146304"/>
            <a:ext cx="822960" cy="109728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256032"/>
            <a:ext cx="548640" cy="0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24344" y="64008"/>
            <a:ext cx="164592" cy="164592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65492" y="105156"/>
            <a:ext cx="82296" cy="82296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65592" y="192024"/>
            <a:ext cx="128016" cy="12801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9AD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97596" y="224028"/>
            <a:ext cx="64008" cy="64008"/>
          </a:xfrm>
          <a:prstGeom prst="ellipse">
            <a:avLst/>
          </a:prstGeom>
          <a:solidFill>
            <a:srgbClr val="9AD0F5"/>
          </a:solidFill>
          <a:ln w="12700">
            <a:solidFill>
              <a:srgbClr val="9AD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68512" y="146304"/>
            <a:ext cx="219456" cy="21945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23376" y="201168"/>
            <a:ext cx="109728" cy="109728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7432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Cómo lo desarrollamos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502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ingenieril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3 · Patrones de Diseño 2026-2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patrón se trabajó con las mismas cuatro fases. En cada diapositiva verás en qué fase estamos (arriba a la derecha).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1508760"/>
            <a:ext cx="1965960" cy="292608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1115568" y="1691640"/>
            <a:ext cx="658368" cy="658368"/>
          </a:xfrm>
          <a:prstGeom prst="ellipse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3576" y="1849648"/>
            <a:ext cx="342351" cy="342351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594360" y="24688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 Análisis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21792" y="283464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del negocio y requerimientos (RF y RNF). Por qué se necesita el patrón.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94360" y="39776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Situación + RF/RNF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2542032" y="1508760"/>
            <a:ext cx="1965960" cy="292608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3200400" y="1691640"/>
            <a:ext cx="658368" cy="658368"/>
          </a:xfrm>
          <a:prstGeom prst="ellipse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8408" y="1849648"/>
            <a:ext cx="342351" cy="342351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2679192" y="24688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 Diseño</a:t>
            </a:r>
            <a:endParaRPr lang="en-US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2706624" y="283464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clases con la clase de control y diagrama de secuencia del proceso.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2679192" y="39776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 de clases y secuencia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4626864" y="1508760"/>
            <a:ext cx="1965960" cy="292608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5285232" y="1691640"/>
            <a:ext cx="658368" cy="658368"/>
          </a:xfrm>
          <a:prstGeom prst="ellipse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3240" y="1849648"/>
            <a:ext cx="342351" cy="342351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4764024" y="24688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3 Código</a:t>
            </a:r>
            <a:endParaRPr lang="en-US" sz="1600" dirty="0"/>
          </a:p>
        </p:txBody>
      </p:sp>
      <p:sp>
        <p:nvSpPr>
          <p:cNvPr id="33" name="Text 28"/>
          <p:cNvSpPr txBox="1"/>
          <p:nvPr/>
        </p:nvSpPr>
        <p:spPr>
          <a:xfrm>
            <a:off x="4791456" y="283464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en Java, explicada línea por línea sobre los archivos reales.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4764024" y="39776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numerado</a:t>
            </a:r>
            <a:endParaRPr lang="en-US" sz="1000" dirty="0"/>
          </a:p>
        </p:txBody>
      </p:sp>
      <p:sp>
        <p:nvSpPr>
          <p:cNvPr id="35" name="Shape 30"/>
          <p:cNvSpPr/>
          <p:nvPr/>
        </p:nvSpPr>
        <p:spPr>
          <a:xfrm>
            <a:off x="6711696" y="1508760"/>
            <a:ext cx="1965960" cy="292608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36" name="Shape 31"/>
          <p:cNvSpPr/>
          <p:nvPr/>
        </p:nvSpPr>
        <p:spPr>
          <a:xfrm>
            <a:off x="7370064" y="1691640"/>
            <a:ext cx="658368" cy="658368"/>
          </a:xfrm>
          <a:prstGeom prst="ellipse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pic>
        <p:nvPicPr>
          <p:cNvPr id="3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8072" y="1849648"/>
            <a:ext cx="342351" cy="342351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6848856" y="24688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4 Pruebas</a:t>
            </a:r>
            <a:endParaRPr lang="en-US" sz="1600" dirty="0"/>
          </a:p>
        </p:txBody>
      </p:sp>
      <p:sp>
        <p:nvSpPr>
          <p:cNvPr id="39" name="Text 33"/>
          <p:cNvSpPr txBox="1"/>
          <p:nvPr/>
        </p:nvSpPr>
        <p:spPr>
          <a:xfrm>
            <a:off x="6876288" y="283464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Ejecución del programa, pantallazo de la salida y verificación de lo esperado.</a:t>
            </a:r>
            <a:endParaRPr lang="en-US" sz="1100" dirty="0"/>
          </a:p>
        </p:txBody>
      </p:sp>
      <p:sp>
        <p:nvSpPr>
          <p:cNvPr id="40" name="Text 34"/>
          <p:cNvSpPr txBox="1"/>
          <p:nvPr/>
        </p:nvSpPr>
        <p:spPr>
          <a:xfrm>
            <a:off x="6848856" y="39776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Ejecución en vivo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0" y="274320"/>
            <a:ext cx="4754880" cy="4389120"/>
          </a:xfrm>
          <a:prstGeom prst="ellipse">
            <a:avLst/>
          </a:prstGeom>
          <a:solidFill>
            <a:srgbClr val="E4F2FC"/>
          </a:solidFill>
          <a:ln w="12700">
            <a:solidFill>
              <a:srgbClr val="E4F2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3566160"/>
            <a:ext cx="2926080" cy="219456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457200"/>
            <a:ext cx="822960" cy="109728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0" y="566928"/>
            <a:ext cx="548640" cy="0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141464" y="374904"/>
            <a:ext cx="164592" cy="164592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82612" y="416052"/>
            <a:ext cx="82296" cy="82296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982712" y="502920"/>
            <a:ext cx="128016" cy="12801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9AD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14716" y="534924"/>
            <a:ext cx="64008" cy="64008"/>
          </a:xfrm>
          <a:prstGeom prst="ellipse">
            <a:avLst/>
          </a:prstGeom>
          <a:solidFill>
            <a:srgbClr val="9AD0F5"/>
          </a:solidFill>
          <a:ln w="12700">
            <a:solidFill>
              <a:srgbClr val="9AD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85632" y="457200"/>
            <a:ext cx="219456" cy="21945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40496" y="512064"/>
            <a:ext cx="109728" cy="109728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548640"/>
            <a:ext cx="822960" cy="822960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150" y="746150"/>
            <a:ext cx="427939" cy="427939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600200" y="5486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Decorator</a:t>
            </a:r>
            <a:endParaRPr lang="en-US" sz="48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1508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 ESTRUCTURAL  ·  también llamado Wrapper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192024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Añade responsabilidades a un objeto de forma dinámica, envolviéndolo en otros objetos que comparten su misma interfaz.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548640" y="3429000"/>
            <a:ext cx="8046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77240" y="35478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Analogía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379476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vestirse en capas: camiseta, buzo, chaqueta. Cada capa agrega algo (abrigo) sin cambiar a la persona, y puedes quitarte o ponerte capas según el clima.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3291840"/>
            <a:ext cx="3840480" cy="292608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188720"/>
            <a:ext cx="2377440" cy="182880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146304"/>
            <a:ext cx="822960" cy="109728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256032"/>
            <a:ext cx="548640" cy="0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24344" y="64008"/>
            <a:ext cx="164592" cy="164592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65492" y="105156"/>
            <a:ext cx="82296" cy="82296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65592" y="192024"/>
            <a:ext cx="128016" cy="12801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9AD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97596" y="224028"/>
            <a:ext cx="64008" cy="64008"/>
          </a:xfrm>
          <a:prstGeom prst="ellipse">
            <a:avLst/>
          </a:prstGeom>
          <a:solidFill>
            <a:srgbClr val="9AD0F5"/>
          </a:solidFill>
          <a:ln w="12700">
            <a:solidFill>
              <a:srgbClr val="9AD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68512" y="146304"/>
            <a:ext cx="219456" cy="21945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23376" y="201168"/>
            <a:ext cx="109728" cy="109728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743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Decorator: análisis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157216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57216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Análisis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53328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53328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Diseño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0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49440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Código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845552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45552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Pruebas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3 · Patrones de Diseño 2026-2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960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Situación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1234440"/>
            <a:ext cx="3931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empresa de buses vende tiquetes y ofrece extras: seguro de viaje, equipaje adicional y refrigerio. Cada cliente combina los extras a su gusto, y cada extra cambia el precio y la descripción.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2514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2788920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RF1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Vender un tiquete base con ruta y tarifa.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RF2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seguro, equipaje extra y/o refrigerio en cualquier combinación.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RF3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costo y la descripción reflejan todos los extras elegidos.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RNF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un extra nuevo sin modificar las clases existentes.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2245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Úsalo cuando: las subclases explotarían (una por combinación) o no puedes modificar la clase original.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663440" y="960120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4846320" y="1097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Decorator: herencia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46320" y="1399032"/>
            <a:ext cx="877824" cy="292608"/>
          </a:xfrm>
          <a:prstGeom prst="roundRect">
            <a:avLst>
              <a:gd name="adj" fmla="val 15625"/>
            </a:avLst>
          </a:prstGeom>
          <a:solidFill>
            <a:srgbClr val="FBE3E0"/>
          </a:solidFill>
          <a:ln w="12700">
            <a:solidFill>
              <a:srgbClr val="F0B8B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846320" y="1399032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Basico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779008" y="1399032"/>
            <a:ext cx="877824" cy="292608"/>
          </a:xfrm>
          <a:prstGeom prst="roundRect">
            <a:avLst>
              <a:gd name="adj" fmla="val 15625"/>
            </a:avLst>
          </a:prstGeom>
          <a:solidFill>
            <a:srgbClr val="FBE3E0"/>
          </a:solidFill>
          <a:ln w="12700">
            <a:solidFill>
              <a:srgbClr val="F0B8B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779008" y="1399032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+Seguro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711696" y="1399032"/>
            <a:ext cx="877824" cy="292608"/>
          </a:xfrm>
          <a:prstGeom prst="roundRect">
            <a:avLst>
              <a:gd name="adj" fmla="val 15625"/>
            </a:avLst>
          </a:prstGeom>
          <a:solidFill>
            <a:srgbClr val="FBE3E0"/>
          </a:solidFill>
          <a:ln w="12700">
            <a:solidFill>
              <a:srgbClr val="F0B8B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711696" y="1399032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+Equipaje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644384" y="1399032"/>
            <a:ext cx="877824" cy="292608"/>
          </a:xfrm>
          <a:prstGeom prst="roundRect">
            <a:avLst>
              <a:gd name="adj" fmla="val 15625"/>
            </a:avLst>
          </a:prstGeom>
          <a:solidFill>
            <a:srgbClr val="FBE3E0"/>
          </a:solidFill>
          <a:ln w="12700">
            <a:solidFill>
              <a:srgbClr val="F0B8B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644384" y="1399032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+Refrigerio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846320" y="1764792"/>
            <a:ext cx="877824" cy="292608"/>
          </a:xfrm>
          <a:prstGeom prst="roundRect">
            <a:avLst>
              <a:gd name="adj" fmla="val 15625"/>
            </a:avLst>
          </a:prstGeom>
          <a:solidFill>
            <a:srgbClr val="FBE3E0"/>
          </a:solidFill>
          <a:ln w="12700">
            <a:solidFill>
              <a:srgbClr val="F0B8B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846320" y="1764792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+Seg+Equip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779008" y="1764792"/>
            <a:ext cx="877824" cy="292608"/>
          </a:xfrm>
          <a:prstGeom prst="roundRect">
            <a:avLst>
              <a:gd name="adj" fmla="val 15625"/>
            </a:avLst>
          </a:prstGeom>
          <a:solidFill>
            <a:srgbClr val="FBE3E0"/>
          </a:solidFill>
          <a:ln w="12700">
            <a:solidFill>
              <a:srgbClr val="F0B8B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779008" y="1764792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+Seg+Refr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711696" y="1764792"/>
            <a:ext cx="877824" cy="292608"/>
          </a:xfrm>
          <a:prstGeom prst="roundRect">
            <a:avLst>
              <a:gd name="adj" fmla="val 15625"/>
            </a:avLst>
          </a:prstGeom>
          <a:solidFill>
            <a:srgbClr val="FBE3E0"/>
          </a:solidFill>
          <a:ln w="12700">
            <a:solidFill>
              <a:srgbClr val="F0B8B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711696" y="1764792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+Equip+Refr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7644384" y="1764792"/>
            <a:ext cx="877824" cy="292608"/>
          </a:xfrm>
          <a:prstGeom prst="roundRect">
            <a:avLst>
              <a:gd name="adj" fmla="val 15625"/>
            </a:avLst>
          </a:prstGeom>
          <a:solidFill>
            <a:srgbClr val="FBE3E0"/>
          </a:solidFill>
          <a:ln w="12700">
            <a:solidFill>
              <a:srgbClr val="F0B8B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644384" y="1764792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+Los 3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4846320" y="21488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subclases (y se duplican con cada extra nuevo)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4846320" y="2514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Decorator: capas apilables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892040" y="2834640"/>
            <a:ext cx="3566160" cy="1463040"/>
          </a:xfrm>
          <a:prstGeom prst="roundRect">
            <a:avLst>
              <a:gd name="adj" fmla="val 3750"/>
            </a:avLst>
          </a:prstGeom>
          <a:solidFill>
            <a:srgbClr val="1E8E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983480" y="2871216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RefrigerioABordo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074920" y="3108960"/>
            <a:ext cx="3200400" cy="1078992"/>
          </a:xfrm>
          <a:prstGeom prst="roundRect">
            <a:avLst>
              <a:gd name="adj" fmla="val 5085"/>
            </a:avLst>
          </a:prstGeom>
          <a:solidFill>
            <a:srgbClr val="3AA87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166360" y="3145536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EquipajeExtra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5257800" y="3383280"/>
            <a:ext cx="2834640" cy="694944"/>
          </a:xfrm>
          <a:prstGeom prst="roundRect">
            <a:avLst>
              <a:gd name="adj" fmla="val 7895"/>
            </a:avLst>
          </a:prstGeom>
          <a:solidFill>
            <a:srgbClr val="7CC8A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349240" y="3419856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SeguroViaje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5440680" y="3657600"/>
            <a:ext cx="2468880" cy="310896"/>
          </a:xfrm>
          <a:prstGeom prst="roundRect">
            <a:avLst>
              <a:gd name="adj" fmla="val 17647"/>
            </a:avLst>
          </a:prstGeom>
          <a:solidFill>
            <a:srgbClr val="D8F0E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532120" y="369417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TiqueteBasico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4846320" y="43251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decoradores, cualquier combinación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3291840"/>
            <a:ext cx="3840480" cy="292608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188720"/>
            <a:ext cx="2377440" cy="182880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146304"/>
            <a:ext cx="822960" cy="109728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256032"/>
            <a:ext cx="548640" cy="0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24344" y="64008"/>
            <a:ext cx="164592" cy="164592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65492" y="105156"/>
            <a:ext cx="82296" cy="82296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65592" y="192024"/>
            <a:ext cx="128016" cy="12801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9AD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97596" y="224028"/>
            <a:ext cx="64008" cy="64008"/>
          </a:xfrm>
          <a:prstGeom prst="ellipse">
            <a:avLst/>
          </a:prstGeom>
          <a:solidFill>
            <a:srgbClr val="9AD0F5"/>
          </a:solidFill>
          <a:ln w="12700">
            <a:solidFill>
              <a:srgbClr val="9AD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68512" y="146304"/>
            <a:ext cx="219456" cy="21945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23376" y="201168"/>
            <a:ext cx="109728" cy="109728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743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Decorator: diagrama de clases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157216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57216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Análisis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53328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53328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Diseño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0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49440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Código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845552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45552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Pruebas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3 · Patrones de Diseño 2026-2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960120"/>
            <a:ext cx="1737360" cy="722376"/>
          </a:xfrm>
          <a:prstGeom prst="rect">
            <a:avLst/>
          </a:prstGeom>
          <a:solidFill>
            <a:srgbClr val="FFFFFF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960120"/>
            <a:ext cx="1737360" cy="457200"/>
          </a:xfrm>
          <a:prstGeom prst="rect">
            <a:avLst/>
          </a:prstGeom>
          <a:solidFill>
            <a:srgbClr val="5BB4F0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9601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«control»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30352" y="1463040"/>
            <a:ext cx="162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(cliente)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154680" y="960120"/>
            <a:ext cx="2468880" cy="896112"/>
          </a:xfrm>
          <a:prstGeom prst="rect">
            <a:avLst/>
          </a:prstGeom>
          <a:solidFill>
            <a:srgbClr val="FFFFFF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154680" y="960120"/>
            <a:ext cx="2468880" cy="457200"/>
          </a:xfrm>
          <a:prstGeom prst="rect">
            <a:avLst/>
          </a:prstGeom>
          <a:solidFill>
            <a:srgbClr val="3A3F4B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54680" y="960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«interface»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Tiquete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3227832" y="1463040"/>
            <a:ext cx="23591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descripcion(): String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costo(): double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57200" y="2377440"/>
            <a:ext cx="2377440" cy="1078992"/>
          </a:xfrm>
          <a:prstGeom prst="rect">
            <a:avLst/>
          </a:prstGeom>
          <a:solidFill>
            <a:srgbClr val="FFFFFF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" y="2377440"/>
            <a:ext cx="2377440" cy="292608"/>
          </a:xfrm>
          <a:prstGeom prst="rect">
            <a:avLst/>
          </a:prstGeom>
          <a:solidFill>
            <a:srgbClr val="3A3F4B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7200" y="23774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TiqueteBasico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530352" y="2715768"/>
            <a:ext cx="226771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ruta: String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tarifa: double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descripcion()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costo()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3154680" y="2377440"/>
            <a:ext cx="2468880" cy="905256"/>
          </a:xfrm>
          <a:prstGeom prst="rect">
            <a:avLst/>
          </a:prstGeom>
          <a:solidFill>
            <a:srgbClr val="FFFFFF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154680" y="2377440"/>
            <a:ext cx="2468880" cy="292608"/>
          </a:xfrm>
          <a:prstGeom prst="rect">
            <a:avLst/>
          </a:prstGeom>
          <a:solidFill>
            <a:srgbClr val="3A3F4B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154680" y="23774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TiqueteDecorator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3227832" y="2715768"/>
            <a:ext cx="2359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envuelto: Tiquete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descripcion()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costo()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325880" y="3657600"/>
            <a:ext cx="1691640" cy="557784"/>
          </a:xfrm>
          <a:prstGeom prst="rect">
            <a:avLst/>
          </a:prstGeom>
          <a:solidFill>
            <a:srgbClr val="FFFFFF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325880" y="3657600"/>
            <a:ext cx="1691640" cy="292608"/>
          </a:xfrm>
          <a:prstGeom prst="rect">
            <a:avLst/>
          </a:prstGeom>
          <a:solidFill>
            <a:srgbClr val="3A3F4B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325880" y="365760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SeguroViaje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399032" y="3995928"/>
            <a:ext cx="1581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costo()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3246120" y="3657600"/>
            <a:ext cx="1691640" cy="557784"/>
          </a:xfrm>
          <a:prstGeom prst="rect">
            <a:avLst/>
          </a:prstGeom>
          <a:solidFill>
            <a:srgbClr val="FFFFFF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46120" y="3657600"/>
            <a:ext cx="1691640" cy="292608"/>
          </a:xfrm>
          <a:prstGeom prst="rect">
            <a:avLst/>
          </a:prstGeom>
          <a:solidFill>
            <a:srgbClr val="3A3F4B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246120" y="365760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EquipajeExtra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3319272" y="3995928"/>
            <a:ext cx="1581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kilos: int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166360" y="3657600"/>
            <a:ext cx="1691640" cy="557784"/>
          </a:xfrm>
          <a:prstGeom prst="rect">
            <a:avLst/>
          </a:prstGeom>
          <a:solidFill>
            <a:srgbClr val="FFFFFF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166360" y="3657600"/>
            <a:ext cx="1691640" cy="292608"/>
          </a:xfrm>
          <a:prstGeom prst="rect">
            <a:avLst/>
          </a:prstGeom>
          <a:solidFill>
            <a:srgbClr val="3A3F4B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166360" y="365760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RefrigerioABordo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5239512" y="3995928"/>
            <a:ext cx="1581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costo()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2194560" y="1188720"/>
            <a:ext cx="960120" cy="0"/>
          </a:xfrm>
          <a:prstGeom prst="line">
            <a:avLst/>
          </a:prstGeom>
          <a:noFill/>
          <a:ln w="15875">
            <a:solidFill>
              <a:srgbClr val="3A3F4B"/>
            </a:solidFill>
            <a:prstDash val="solid"/>
            <a:tailEnd type="arrow"/>
          </a:ln>
        </p:spPr>
      </p:sp>
      <p:sp>
        <p:nvSpPr>
          <p:cNvPr id="52" name="Shape 50"/>
          <p:cNvSpPr/>
          <p:nvPr/>
        </p:nvSpPr>
        <p:spPr>
          <a:xfrm flipV="1">
            <a:off x="1645920" y="1856232"/>
            <a:ext cx="1965960" cy="521208"/>
          </a:xfrm>
          <a:prstGeom prst="line">
            <a:avLst/>
          </a:prstGeom>
          <a:noFill/>
          <a:ln w="15875">
            <a:solidFill>
              <a:srgbClr val="3A3F4B"/>
            </a:solidFill>
            <a:prstDash val="dash"/>
            <a:tailEnd type="triangle"/>
          </a:ln>
        </p:spPr>
      </p:sp>
      <p:sp>
        <p:nvSpPr>
          <p:cNvPr id="53" name="Shape 51"/>
          <p:cNvSpPr/>
          <p:nvPr/>
        </p:nvSpPr>
        <p:spPr>
          <a:xfrm flipV="1">
            <a:off x="4389120" y="1856232"/>
            <a:ext cx="0" cy="521208"/>
          </a:xfrm>
          <a:prstGeom prst="line">
            <a:avLst/>
          </a:prstGeom>
          <a:noFill/>
          <a:ln w="15875">
            <a:solidFill>
              <a:srgbClr val="3A3F4B"/>
            </a:solidFill>
            <a:prstDash val="dash"/>
            <a:tailEnd type="triangle"/>
          </a:ln>
        </p:spPr>
      </p:sp>
      <p:sp>
        <p:nvSpPr>
          <p:cNvPr id="54" name="Shape 52"/>
          <p:cNvSpPr/>
          <p:nvPr/>
        </p:nvSpPr>
        <p:spPr>
          <a:xfrm flipV="1">
            <a:off x="2171700" y="3282696"/>
            <a:ext cx="2217420" cy="374904"/>
          </a:xfrm>
          <a:prstGeom prst="line">
            <a:avLst/>
          </a:prstGeom>
          <a:noFill/>
          <a:ln w="15875">
            <a:solidFill>
              <a:srgbClr val="3A3F4B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 flipV="1">
            <a:off x="4091940" y="3282696"/>
            <a:ext cx="297180" cy="374904"/>
          </a:xfrm>
          <a:prstGeom prst="line">
            <a:avLst/>
          </a:prstGeom>
          <a:noFill/>
          <a:ln w="15875">
            <a:solidFill>
              <a:srgbClr val="3A3F4B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 flipH="1" flipV="1">
            <a:off x="4389120" y="3282696"/>
            <a:ext cx="1623060" cy="374904"/>
          </a:xfrm>
          <a:prstGeom prst="line">
            <a:avLst/>
          </a:prstGeom>
          <a:noFill/>
          <a:ln w="15875">
            <a:solidFill>
              <a:srgbClr val="3A3F4B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5623560" y="2880360"/>
            <a:ext cx="457200" cy="0"/>
          </a:xfrm>
          <a:prstGeom prst="line">
            <a:avLst/>
          </a:prstGeom>
          <a:noFill/>
          <a:ln w="15875">
            <a:solidFill>
              <a:srgbClr val="3A3F4B"/>
            </a:solidFill>
            <a:prstDash val="solid"/>
            <a:tailEnd type="none"/>
          </a:ln>
        </p:spPr>
      </p:sp>
      <p:sp>
        <p:nvSpPr>
          <p:cNvPr id="58" name="Shape 56"/>
          <p:cNvSpPr/>
          <p:nvPr/>
        </p:nvSpPr>
        <p:spPr>
          <a:xfrm flipV="1">
            <a:off x="6080760" y="1600200"/>
            <a:ext cx="0" cy="1280160"/>
          </a:xfrm>
          <a:prstGeom prst="line">
            <a:avLst/>
          </a:prstGeom>
          <a:noFill/>
          <a:ln w="15875">
            <a:solidFill>
              <a:srgbClr val="3A3F4B"/>
            </a:solidFill>
            <a:prstDash val="solid"/>
            <a:tailEnd type="none"/>
          </a:ln>
        </p:spPr>
      </p:sp>
      <p:sp>
        <p:nvSpPr>
          <p:cNvPr id="59" name="Shape 57"/>
          <p:cNvSpPr/>
          <p:nvPr/>
        </p:nvSpPr>
        <p:spPr>
          <a:xfrm flipH="1">
            <a:off x="5623560" y="1600200"/>
            <a:ext cx="457200" cy="0"/>
          </a:xfrm>
          <a:prstGeom prst="line">
            <a:avLst/>
          </a:prstGeom>
          <a:noFill/>
          <a:ln w="15875">
            <a:solidFill>
              <a:srgbClr val="3A3F4B"/>
            </a:solidFill>
            <a:prstDash val="solid"/>
            <a:tailEnd type="arrow"/>
          </a:ln>
        </p:spPr>
      </p:sp>
      <p:sp>
        <p:nvSpPr>
          <p:cNvPr id="60" name="Text 58"/>
          <p:cNvSpPr txBox="1"/>
          <p:nvPr/>
        </p:nvSpPr>
        <p:spPr>
          <a:xfrm>
            <a:off x="6126480" y="19202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envuelve a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66560" y="960120"/>
            <a:ext cx="1920240" cy="26517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62" name="Text 60"/>
          <p:cNvSpPr txBox="1"/>
          <p:nvPr/>
        </p:nvSpPr>
        <p:spPr>
          <a:xfrm>
            <a:off x="6903720" y="10515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Participantes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903720" y="134416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</a:t>
            </a:r>
            <a:endParaRPr lang="en-US" sz="1000" dirty="0"/>
          </a:p>
        </p:txBody>
      </p:sp>
      <p:sp>
        <p:nvSpPr>
          <p:cNvPr id="64" name="Text 62"/>
          <p:cNvSpPr txBox="1"/>
          <p:nvPr/>
        </p:nvSpPr>
        <p:spPr>
          <a:xfrm>
            <a:off x="6903720" y="153619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Tiquete</a:t>
            </a:r>
            <a:endParaRPr lang="en-US" sz="1000" dirty="0"/>
          </a:p>
        </p:txBody>
      </p:sp>
      <p:sp>
        <p:nvSpPr>
          <p:cNvPr id="65" name="Text 63"/>
          <p:cNvSpPr txBox="1"/>
          <p:nvPr/>
        </p:nvSpPr>
        <p:spPr>
          <a:xfrm>
            <a:off x="6903720" y="191109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ConcreteComponent</a:t>
            </a:r>
            <a:endParaRPr lang="en-US" sz="1000" dirty="0"/>
          </a:p>
        </p:txBody>
      </p:sp>
      <p:sp>
        <p:nvSpPr>
          <p:cNvPr id="66" name="Text 64"/>
          <p:cNvSpPr txBox="1"/>
          <p:nvPr/>
        </p:nvSpPr>
        <p:spPr>
          <a:xfrm>
            <a:off x="6903720" y="210312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TiqueteBasico</a:t>
            </a:r>
            <a:endParaRPr lang="en-US" sz="1000" dirty="0"/>
          </a:p>
        </p:txBody>
      </p:sp>
      <p:sp>
        <p:nvSpPr>
          <p:cNvPr id="67" name="Text 65"/>
          <p:cNvSpPr txBox="1"/>
          <p:nvPr/>
        </p:nvSpPr>
        <p:spPr>
          <a:xfrm>
            <a:off x="6903720" y="247802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Decorator</a:t>
            </a:r>
            <a:endParaRPr lang="en-US" sz="1000" dirty="0"/>
          </a:p>
        </p:txBody>
      </p:sp>
      <p:sp>
        <p:nvSpPr>
          <p:cNvPr id="68" name="Text 66"/>
          <p:cNvSpPr txBox="1"/>
          <p:nvPr/>
        </p:nvSpPr>
        <p:spPr>
          <a:xfrm>
            <a:off x="6903720" y="2670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TiqueteDecorator</a:t>
            </a:r>
            <a:endParaRPr lang="en-US" sz="1000" dirty="0"/>
          </a:p>
        </p:txBody>
      </p:sp>
      <p:sp>
        <p:nvSpPr>
          <p:cNvPr id="69" name="Text 67"/>
          <p:cNvSpPr txBox="1"/>
          <p:nvPr/>
        </p:nvSpPr>
        <p:spPr>
          <a:xfrm>
            <a:off x="6903720" y="304495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ConcreteDecorator</a:t>
            </a:r>
            <a:endParaRPr lang="en-US" sz="1000" dirty="0"/>
          </a:p>
        </p:txBody>
      </p:sp>
      <p:sp>
        <p:nvSpPr>
          <p:cNvPr id="70" name="Text 68"/>
          <p:cNvSpPr txBox="1"/>
          <p:nvPr/>
        </p:nvSpPr>
        <p:spPr>
          <a:xfrm>
            <a:off x="6903720" y="323697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Seguro, Equipaje, Refrigerio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" y="4553712"/>
            <a:ext cx="182880" cy="128016"/>
          </a:xfrm>
          <a:prstGeom prst="rect">
            <a:avLst/>
          </a:prstGeom>
          <a:solidFill>
            <a:srgbClr val="5BB4F0"/>
          </a:solidFill>
          <a:ln w="9525">
            <a:solidFill>
              <a:srgbClr val="3A3F4B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713232" y="451713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 de control (coordina el flujo)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3200400" y="4553712"/>
            <a:ext cx="182880" cy="128016"/>
          </a:xfrm>
          <a:prstGeom prst="rect">
            <a:avLst/>
          </a:prstGeom>
          <a:solidFill>
            <a:srgbClr val="3A3F4B"/>
          </a:solidFill>
          <a:ln w="9525">
            <a:solidFill>
              <a:srgbClr val="3A3F4B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3456432" y="451713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 del patrón / dominio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3291840"/>
            <a:ext cx="3840480" cy="292608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188720"/>
            <a:ext cx="2377440" cy="182880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146304"/>
            <a:ext cx="822960" cy="109728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256032"/>
            <a:ext cx="548640" cy="0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24344" y="64008"/>
            <a:ext cx="164592" cy="164592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65492" y="105156"/>
            <a:ext cx="82296" cy="82296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65592" y="192024"/>
            <a:ext cx="128016" cy="12801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9AD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97596" y="224028"/>
            <a:ext cx="64008" cy="64008"/>
          </a:xfrm>
          <a:prstGeom prst="ellipse">
            <a:avLst/>
          </a:prstGeom>
          <a:solidFill>
            <a:srgbClr val="9AD0F5"/>
          </a:solidFill>
          <a:ln w="12700">
            <a:solidFill>
              <a:srgbClr val="9AD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68512" y="146304"/>
            <a:ext cx="219456" cy="21945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23376" y="201168"/>
            <a:ext cx="109728" cy="109728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743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Decorator: secuencia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157216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57216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Análisis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53328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53328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Diseño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0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49440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Código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845552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45552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Pruebas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3 · Patrones de Diseño 2026-2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8412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de costo(): la petición baja por las capas y el precio sube sumando cada extra (ejemplo: refrigerio + seguro sobre un tiquete de $85.000).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77240" y="1143000"/>
            <a:ext cx="1417320" cy="420624"/>
          </a:xfrm>
          <a:prstGeom prst="rect">
            <a:avLst/>
          </a:prstGeom>
          <a:solidFill>
            <a:srgbClr val="5BB4F0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114300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1485900" y="1563624"/>
            <a:ext cx="0" cy="3099816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2834640" y="1143000"/>
            <a:ext cx="1417320" cy="42062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834640" y="114300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RefrigerioABordo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543300" y="1563624"/>
            <a:ext cx="0" cy="3099816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4892040" y="1143000"/>
            <a:ext cx="1417320" cy="42062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892040" y="114300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SeguroViaje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600700" y="1563624"/>
            <a:ext cx="0" cy="3099816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949440" y="1143000"/>
            <a:ext cx="1417320" cy="42062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949440" y="114300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TiqueteBasico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658100" y="1563624"/>
            <a:ext cx="0" cy="3099816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1485900" y="1929384"/>
            <a:ext cx="2057400" cy="0"/>
          </a:xfrm>
          <a:prstGeom prst="line">
            <a:avLst/>
          </a:prstGeom>
          <a:noFill/>
          <a:ln w="13970">
            <a:solidFill>
              <a:srgbClr val="3A3F4B"/>
            </a:solidFill>
            <a:prstDash val="solid"/>
            <a:tailEnd type="arrow"/>
          </a:ln>
        </p:spPr>
      </p:sp>
      <p:sp>
        <p:nvSpPr>
          <p:cNvPr id="37" name="Text 35"/>
          <p:cNvSpPr txBox="1"/>
          <p:nvPr/>
        </p:nvSpPr>
        <p:spPr>
          <a:xfrm>
            <a:off x="1531620" y="171450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costo()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543300" y="2276856"/>
            <a:ext cx="2057400" cy="0"/>
          </a:xfrm>
          <a:prstGeom prst="line">
            <a:avLst/>
          </a:prstGeom>
          <a:noFill/>
          <a:ln w="13970">
            <a:solidFill>
              <a:srgbClr val="3A3F4B"/>
            </a:solidFill>
            <a:prstDash val="solid"/>
            <a:tailEnd type="arrow"/>
          </a:ln>
        </p:spPr>
      </p:sp>
      <p:sp>
        <p:nvSpPr>
          <p:cNvPr id="39" name="Text 37"/>
          <p:cNvSpPr txBox="1"/>
          <p:nvPr/>
        </p:nvSpPr>
        <p:spPr>
          <a:xfrm>
            <a:off x="3589020" y="2061972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envuelto.costo()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600700" y="2624328"/>
            <a:ext cx="2057400" cy="0"/>
          </a:xfrm>
          <a:prstGeom prst="line">
            <a:avLst/>
          </a:prstGeom>
          <a:noFill/>
          <a:ln w="13970">
            <a:solidFill>
              <a:srgbClr val="3A3F4B"/>
            </a:solidFill>
            <a:prstDash val="solid"/>
            <a:tailEnd type="arrow"/>
          </a:ln>
        </p:spPr>
      </p:sp>
      <p:sp>
        <p:nvSpPr>
          <p:cNvPr id="41" name="Text 39"/>
          <p:cNvSpPr txBox="1"/>
          <p:nvPr/>
        </p:nvSpPr>
        <p:spPr>
          <a:xfrm>
            <a:off x="5646420" y="2409444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envuelto.costo()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 flipH="1">
            <a:off x="5600700" y="2971800"/>
            <a:ext cx="2057400" cy="0"/>
          </a:xfrm>
          <a:prstGeom prst="line">
            <a:avLst/>
          </a:prstGeom>
          <a:noFill/>
          <a:ln w="13970">
            <a:solidFill>
              <a:srgbClr val="5B6577"/>
            </a:solidFill>
            <a:prstDash val="dash"/>
            <a:tailEnd type="arrow"/>
          </a:ln>
        </p:spPr>
      </p:sp>
      <p:sp>
        <p:nvSpPr>
          <p:cNvPr id="43" name="Text 41"/>
          <p:cNvSpPr txBox="1"/>
          <p:nvPr/>
        </p:nvSpPr>
        <p:spPr>
          <a:xfrm>
            <a:off x="5646420" y="2756916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4. 85.000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5655564" y="3200400"/>
            <a:ext cx="1188720" cy="256032"/>
          </a:xfrm>
          <a:prstGeom prst="roundRect">
            <a:avLst>
              <a:gd name="adj" fmla="val 14286"/>
            </a:avLst>
          </a:prstGeom>
          <a:solidFill>
            <a:srgbClr val="E6F2FB"/>
          </a:solidFill>
          <a:ln w="9525">
            <a:solidFill>
              <a:srgbClr val="5BB4F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692140" y="3200400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suma 3.500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 flipH="1">
            <a:off x="3543300" y="3666744"/>
            <a:ext cx="2057400" cy="0"/>
          </a:xfrm>
          <a:prstGeom prst="line">
            <a:avLst/>
          </a:prstGeom>
          <a:noFill/>
          <a:ln w="13970">
            <a:solidFill>
              <a:srgbClr val="5B6577"/>
            </a:solidFill>
            <a:prstDash val="dash"/>
            <a:tailEnd type="arrow"/>
          </a:ln>
        </p:spPr>
      </p:sp>
      <p:sp>
        <p:nvSpPr>
          <p:cNvPr id="47" name="Text 45"/>
          <p:cNvSpPr txBox="1"/>
          <p:nvPr/>
        </p:nvSpPr>
        <p:spPr>
          <a:xfrm>
            <a:off x="3589020" y="345186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6. 88.500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598164" y="3895344"/>
            <a:ext cx="1188720" cy="256032"/>
          </a:xfrm>
          <a:prstGeom prst="roundRect">
            <a:avLst>
              <a:gd name="adj" fmla="val 14286"/>
            </a:avLst>
          </a:prstGeom>
          <a:solidFill>
            <a:srgbClr val="E6F2FB"/>
          </a:solidFill>
          <a:ln w="9525">
            <a:solidFill>
              <a:srgbClr val="5BB4F0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3634740" y="3895344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suma 8.000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 flipH="1">
            <a:off x="1485900" y="4361688"/>
            <a:ext cx="2057400" cy="0"/>
          </a:xfrm>
          <a:prstGeom prst="line">
            <a:avLst/>
          </a:prstGeom>
          <a:noFill/>
          <a:ln w="13970">
            <a:solidFill>
              <a:srgbClr val="5B6577"/>
            </a:solidFill>
            <a:prstDash val="dash"/>
            <a:tailEnd type="arrow"/>
          </a:ln>
        </p:spPr>
      </p:sp>
      <p:sp>
        <p:nvSpPr>
          <p:cNvPr id="51" name="Text 49"/>
          <p:cNvSpPr txBox="1"/>
          <p:nvPr/>
        </p:nvSpPr>
        <p:spPr>
          <a:xfrm>
            <a:off x="1531620" y="4146804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8. 96.500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3291840"/>
            <a:ext cx="3840480" cy="292608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188720"/>
            <a:ext cx="2377440" cy="182880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146304"/>
            <a:ext cx="822960" cy="109728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256032"/>
            <a:ext cx="548640" cy="0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24344" y="64008"/>
            <a:ext cx="164592" cy="164592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65492" y="105156"/>
            <a:ext cx="82296" cy="82296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65592" y="192024"/>
            <a:ext cx="128016" cy="12801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9AD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97596" y="224028"/>
            <a:ext cx="64008" cy="64008"/>
          </a:xfrm>
          <a:prstGeom prst="ellipse">
            <a:avLst/>
          </a:prstGeom>
          <a:solidFill>
            <a:srgbClr val="9AD0F5"/>
          </a:solidFill>
          <a:ln w="12700">
            <a:solidFill>
              <a:srgbClr val="9AD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68512" y="146304"/>
            <a:ext cx="219456" cy="21945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23376" y="201168"/>
            <a:ext cx="109728" cy="109728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743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Decorator: código (1/2)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157216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57216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Análisis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53328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53328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Diseño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0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49440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Código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845552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45552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Pruebas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3 · Patrones de Diseño 2026-2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080760" y="914400"/>
            <a:ext cx="2606040" cy="37947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99632" y="9875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por línea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199632" y="1261872"/>
            <a:ext cx="239572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/>
              </a:rPr>
              <a:t xml:space="preserve">Tiquete L5  </a:t>
            </a:r>
            <a:r>
              <a:rPr lang="en-US" sz="900" dirty="0">
                <a:solidFill>
                  <a:srgbClr val="1B2333"/>
                </a:solidFill>
                <a:latin typeface="Calibri"/>
              </a:rPr>
              <a:t xml:space="preserve">Componente: el contrato común. El tiquete básico y todos los decoradores lo implementan.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/>
              </a:rPr>
              <a:t xml:space="preserve">Tiquete L8, L11  </a:t>
            </a:r>
            <a:r>
              <a:rPr lang="en-US" sz="900" dirty="0">
                <a:solidFill>
                  <a:srgbClr val="1B2333"/>
                </a:solidFill>
                <a:latin typeface="Calibri"/>
              </a:rPr>
              <a:t xml:space="preserve">Dos operaciones: qué incluye el tiquete y cuánto cuesta.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/>
              </a:rPr>
              <a:t xml:space="preserve">TiqueteDecorator L6  </a:t>
            </a:r>
            <a:r>
              <a:rPr lang="en-US" sz="900" dirty="0">
                <a:solidFill>
                  <a:srgbClr val="1B2333"/>
                </a:solidFill>
                <a:latin typeface="Calibri"/>
              </a:rPr>
              <a:t xml:space="preserve">Decorador base: implementa Tiquete, así que se usa donde se espera un tiquete.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/>
              </a:rPr>
              <a:t xml:space="preserve">TiqueteDecorator L8  </a:t>
            </a:r>
            <a:r>
              <a:rPr lang="en-US" sz="900" dirty="0">
                <a:solidFill>
                  <a:srgbClr val="1B2333"/>
                </a:solidFill>
                <a:latin typeface="Calibri"/>
              </a:rPr>
              <a:t xml:space="preserve">Guarda el tiquete que envuelve (composición).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/>
              </a:rPr>
              <a:t xml:space="preserve">TiqueteDecorator L10-12  </a:t>
            </a:r>
            <a:r>
              <a:rPr lang="en-US" sz="900" dirty="0">
                <a:solidFill>
                  <a:srgbClr val="1B2333"/>
                </a:solidFill>
                <a:latin typeface="Calibri"/>
              </a:rPr>
              <a:t xml:space="preserve">El constructor recibe el objeto a decorar.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/>
              </a:rPr>
              <a:t xml:space="preserve">TiqueteDecorator L15-17  </a:t>
            </a:r>
            <a:r>
              <a:rPr lang="en-US" sz="900" dirty="0">
                <a:solidFill>
                  <a:srgbClr val="1B2333"/>
                </a:solidFill>
                <a:latin typeface="Calibri"/>
              </a:rPr>
              <a:t xml:space="preserve">descripcion() delega en el objeto envuelto.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/>
              </a:rPr>
              <a:t xml:space="preserve">TiqueteDecorator L20-22  </a:t>
            </a:r>
            <a:r>
              <a:rPr lang="en-US" sz="900" dirty="0">
                <a:solidFill>
                  <a:srgbClr val="1B2333"/>
                </a:solidFill>
                <a:latin typeface="Calibri"/>
              </a:rPr>
              <a:t xml:space="preserve">costo() también delega; los decoradores concretos lo sobrescriben y suman su parte.</a:t>
            </a:r>
            <a:endParaRPr lang="en-US" sz="900" dirty="0"/>
          </a:p>
        </p:txBody>
      </p:sp>
      <p:pic>
        <p:nvPicPr>
          <p:cNvPr id="32" name="Picture 31" descr="Decorator Tiquete java DIA 8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3108" y="914400"/>
            <a:ext cx="2494583" cy="946404"/>
          </a:xfrm>
          <a:prstGeom prst="rect">
            <a:avLst/>
          </a:prstGeom>
        </p:spPr>
      </p:pic>
      <p:pic>
        <p:nvPicPr>
          <p:cNvPr id="33" name="Picture 32" descr="Decorator TiqueteDecorator java DIA 8 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847" y="1952244"/>
            <a:ext cx="4267106" cy="27146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3291840"/>
            <a:ext cx="3840480" cy="292608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188720"/>
            <a:ext cx="2377440" cy="182880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146304"/>
            <a:ext cx="822960" cy="109728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256032"/>
            <a:ext cx="548640" cy="0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24344" y="64008"/>
            <a:ext cx="164592" cy="164592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65492" y="105156"/>
            <a:ext cx="82296" cy="82296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65592" y="192024"/>
            <a:ext cx="128016" cy="12801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9AD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97596" y="224028"/>
            <a:ext cx="64008" cy="64008"/>
          </a:xfrm>
          <a:prstGeom prst="ellipse">
            <a:avLst/>
          </a:prstGeom>
          <a:solidFill>
            <a:srgbClr val="9AD0F5"/>
          </a:solidFill>
          <a:ln w="12700">
            <a:solidFill>
              <a:srgbClr val="9AD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68512" y="146304"/>
            <a:ext cx="219456" cy="21945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23376" y="201168"/>
            <a:ext cx="109728" cy="109728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743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Decorator: código (2/2)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157216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57216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Análisis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53328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53328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Diseño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0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49440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Código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845552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45552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Pruebas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3 · Patrones de Diseño 2026-2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080760" y="914400"/>
            <a:ext cx="2606040" cy="37947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99632" y="9875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por línea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199632" y="1261872"/>
            <a:ext cx="239572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/>
              </a:rPr>
              <a:t xml:space="preserve">SeguroViaje L4  </a:t>
            </a:r>
            <a:r>
              <a:rPr lang="en-US" sz="900" dirty="0">
                <a:solidFill>
                  <a:srgbClr val="1B2333"/>
                </a:solidFill>
                <a:latin typeface="Calibri"/>
              </a:rPr>
              <a:t xml:space="preserve">Decorador concreto: extiende TiqueteDecorator (hereda envuelto y la delegación).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/>
              </a:rPr>
              <a:t xml:space="preserve">SeguroViaje L6  </a:t>
            </a:r>
            <a:r>
              <a:rPr lang="en-US" sz="900" dirty="0">
                <a:solidFill>
                  <a:srgbClr val="1B2333"/>
                </a:solidFill>
                <a:latin typeface="Calibri"/>
              </a:rPr>
              <a:t xml:space="preserve">Constante con nombre en vez de un número mágico: 3.500 es igual para todos los seguros.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/>
              </a:rPr>
              <a:t xml:space="preserve">SeguroViaje L8-10  </a:t>
            </a:r>
            <a:r>
              <a:rPr lang="en-US" sz="900" dirty="0">
                <a:solidFill>
                  <a:srgbClr val="1B2333"/>
                </a:solidFill>
                <a:latin typeface="Calibri"/>
              </a:rPr>
              <a:t xml:space="preserve">super(envuelto) entrega el tiquete al decorador base.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/>
              </a:rPr>
              <a:t xml:space="preserve">SeguroViaje L13-15  </a:t>
            </a:r>
            <a:r>
              <a:rPr lang="en-US" sz="900" dirty="0">
                <a:solidFill>
                  <a:srgbClr val="1B2333"/>
                </a:solidFill>
                <a:latin typeface="Calibri"/>
              </a:rPr>
              <a:t xml:space="preserve">Llama a super y agrega el texto del seguro.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/>
              </a:rPr>
              <a:t xml:space="preserve">SeguroViaje L18-20  </a:t>
            </a:r>
            <a:r>
              <a:rPr lang="en-US" sz="900" dirty="0">
                <a:solidFill>
                  <a:srgbClr val="1B2333"/>
                </a:solidFill>
                <a:latin typeface="Calibri"/>
              </a:rPr>
              <a:t xml:space="preserve">Llama a super (precio hasta ahora) y suma COSTO_SEGURO.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/>
              </a:rPr>
              <a:t xml:space="preserve">Main L35  </a:t>
            </a:r>
            <a:r>
              <a:rPr lang="en-US" sz="900" dirty="0">
                <a:solidFill>
                  <a:srgbClr val="1B2333"/>
                </a:solidFill>
                <a:latin typeface="Calibri"/>
              </a:rPr>
              <a:t xml:space="preserve">El tiquete básico: la capa más interna.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/>
              </a:rPr>
              <a:t xml:space="preserve">Main L36-37  </a:t>
            </a:r>
            <a:r>
              <a:rPr lang="en-US" sz="900" dirty="0">
                <a:solidFill>
                  <a:srgbClr val="1B2333"/>
                </a:solidFill>
                <a:latin typeface="Calibri"/>
              </a:rPr>
              <a:t xml:space="preserve">Se apilan de adentro hacia afuera: seguro, equipaje (10 kg) y refrigerio.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/>
              </a:rPr>
              <a:t xml:space="preserve">Main L38  </a:t>
            </a:r>
            <a:r>
              <a:rPr lang="en-US" sz="900" dirty="0">
                <a:solidFill>
                  <a:srgbClr val="1B2333"/>
                </a:solidFill>
                <a:latin typeface="Calibri"/>
              </a:rPr>
              <a:t xml:space="preserve">Cada capa suma su parte: 85.000 + 3.500 + 12.000 + 8.000 = 108.500.</a:t>
            </a:r>
            <a:endParaRPr lang="en-US" sz="900" dirty="0"/>
          </a:p>
        </p:txBody>
      </p:sp>
      <p:pic>
        <p:nvPicPr>
          <p:cNvPr id="32" name="Picture 31" descr="Decorator SeguroViajejava DIA 9 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1196" y="914400"/>
            <a:ext cx="3438407" cy="2329244"/>
          </a:xfrm>
          <a:prstGeom prst="rect">
            <a:avLst/>
          </a:prstGeom>
        </p:spPr>
      </p:pic>
      <p:pic>
        <p:nvPicPr>
          <p:cNvPr id="33" name="Picture 32" descr="Decorator Main java DIA 9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5439" y="3335084"/>
            <a:ext cx="3589921" cy="91617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3291840"/>
            <a:ext cx="3840480" cy="292608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188720"/>
            <a:ext cx="2377440" cy="182880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146304"/>
            <a:ext cx="822960" cy="109728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256032"/>
            <a:ext cx="548640" cy="0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24344" y="64008"/>
            <a:ext cx="164592" cy="164592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65492" y="105156"/>
            <a:ext cx="82296" cy="82296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65592" y="192024"/>
            <a:ext cx="128016" cy="12801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9AD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97596" y="224028"/>
            <a:ext cx="64008" cy="64008"/>
          </a:xfrm>
          <a:prstGeom prst="ellipse">
            <a:avLst/>
          </a:prstGeom>
          <a:solidFill>
            <a:srgbClr val="9AD0F5"/>
          </a:solidFill>
          <a:ln w="12700">
            <a:solidFill>
              <a:srgbClr val="9AD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68512" y="146304"/>
            <a:ext cx="219456" cy="21945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23376" y="201168"/>
            <a:ext cx="109728" cy="109728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743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Decorator: pruebas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157216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57216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Análisis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53328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53328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Diseño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0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49440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Código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845552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45552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Pruebas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3 · Patrones de Diseño 2026-2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0" y="914400"/>
            <a:ext cx="32004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5623560" y="9875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comprobamos?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623560" y="1261872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tiquete completo cuesta $108.500 = 85.000 + 3.500 + 12.000 + 8.000.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 tiquete con solo 2 extras (caso 4) da $131.500.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creó ninguna subclase nueva por combinación.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0" y="2651760"/>
            <a:ext cx="3200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596128" y="2724912"/>
            <a:ext cx="256032" cy="256032"/>
          </a:xfrm>
          <a:prstGeom prst="ellipse">
            <a:avLst/>
          </a:prstGeom>
          <a:solidFill>
            <a:srgbClr val="1E8E5A"/>
          </a:solidFill>
          <a:ln w="12700">
            <a:solidFill>
              <a:srgbClr val="1E8E5A"/>
            </a:solidFill>
            <a:prstDash val="solid"/>
          </a:ln>
        </p:spPr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57576" y="2786360"/>
            <a:ext cx="133137" cy="133137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5925312" y="272491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Ventajas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623560" y="301752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Extiende sin crear subclases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 capas al ejecutar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5486400" y="3749040"/>
            <a:ext cx="32004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5596128" y="3822192"/>
            <a:ext cx="256032" cy="25603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76" y="3883640"/>
            <a:ext cx="133137" cy="133137"/>
          </a:xfrm>
          <a:prstGeom prst="rect">
            <a:avLst/>
          </a:prstGeom>
        </p:spPr>
      </p:pic>
      <p:sp>
        <p:nvSpPr>
          <p:cNvPr id="37" name="Text 33"/>
          <p:cNvSpPr txBox="1"/>
          <p:nvPr/>
        </p:nvSpPr>
        <p:spPr>
          <a:xfrm>
            <a:off x="5925312" y="38221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Desventajas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5623560" y="409651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Muchos objetos pequeños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orden de las capas puede importar</a:t>
            </a:r>
            <a:endParaRPr lang="en-US" sz="950" dirty="0"/>
          </a:p>
        </p:txBody>
      </p:sp>
      <p:pic>
        <p:nvPicPr>
          <p:cNvPr id="39" name="Picture 38" descr="DECORATOR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039" y="914400"/>
            <a:ext cx="4420921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0" y="274320"/>
            <a:ext cx="4754880" cy="4389120"/>
          </a:xfrm>
          <a:prstGeom prst="ellipse">
            <a:avLst/>
          </a:prstGeom>
          <a:solidFill>
            <a:srgbClr val="E4F2FC"/>
          </a:solidFill>
          <a:ln w="12700">
            <a:solidFill>
              <a:srgbClr val="E4F2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3566160"/>
            <a:ext cx="2926080" cy="219456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457200"/>
            <a:ext cx="822960" cy="109728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0" y="566928"/>
            <a:ext cx="548640" cy="0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141464" y="374904"/>
            <a:ext cx="164592" cy="164592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82612" y="416052"/>
            <a:ext cx="82296" cy="82296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982712" y="502920"/>
            <a:ext cx="128016" cy="12801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9AD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14716" y="534924"/>
            <a:ext cx="64008" cy="64008"/>
          </a:xfrm>
          <a:prstGeom prst="ellipse">
            <a:avLst/>
          </a:prstGeom>
          <a:solidFill>
            <a:srgbClr val="9AD0F5"/>
          </a:solidFill>
          <a:ln w="12700">
            <a:solidFill>
              <a:srgbClr val="9AD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85632" y="457200"/>
            <a:ext cx="219456" cy="21945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40496" y="512064"/>
            <a:ext cx="109728" cy="109728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548640"/>
            <a:ext cx="822960" cy="822960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150" y="746150"/>
            <a:ext cx="427939" cy="427939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600200" y="5486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Facade</a:t>
            </a:r>
            <a:endParaRPr lang="en-US" sz="48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1508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 ESTRUCTURAL  ·  también llamado Fachada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192024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Proporciona una interfaz simplificada a un conjunto de clases complejo: un único punto de entrada para todo un subsistema.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548640" y="3429000"/>
            <a:ext cx="8046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77240" y="35478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Analogía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379476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el mostrador de un hotel: pides «una habitación» y la recepción coordina limpieza, reservas, llaves y pagos por ti.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3291840"/>
            <a:ext cx="3840480" cy="292608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188720"/>
            <a:ext cx="2377440" cy="182880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146304"/>
            <a:ext cx="822960" cy="109728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256032"/>
            <a:ext cx="548640" cy="0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24344" y="64008"/>
            <a:ext cx="164592" cy="164592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65492" y="105156"/>
            <a:ext cx="82296" cy="82296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65592" y="192024"/>
            <a:ext cx="128016" cy="12801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9AD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97596" y="224028"/>
            <a:ext cx="64008" cy="64008"/>
          </a:xfrm>
          <a:prstGeom prst="ellipse">
            <a:avLst/>
          </a:prstGeom>
          <a:solidFill>
            <a:srgbClr val="9AD0F5"/>
          </a:solidFill>
          <a:ln w="12700">
            <a:solidFill>
              <a:srgbClr val="9AD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68512" y="146304"/>
            <a:ext cx="219456" cy="21945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23376" y="201168"/>
            <a:ext cx="109728" cy="109728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743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Facade: análisis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157216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57216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Análisis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53328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53328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Diseño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0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49440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Código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845552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45552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Pruebas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3 · Patrones de Diseño 2026-2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960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Situación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1234440"/>
            <a:ext cx="3931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Comprar un tiquete implica consultar la silla, validar el pago, cobrar, facturar y enviar el correo. Si cada pantalla repite esos pasos, el código queda acoplado a cuatro subsistemas.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2514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2788920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RF1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Comprar un tiquete: verificar silla, validar pago, bloquear silla, cobrar, facturar y notificar.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RF2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silla ya está ocupada, la compra se cancela.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RNF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clientes del sistema no deben conocer los subsistemas ni el orden de los pasos.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2245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Úsalo cuando: necesitas una interfaz simple para un subsistema complejo y menos acoplamiento.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663440" y="960120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4846320" y="10698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Facade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46320" y="1737360"/>
            <a:ext cx="914400" cy="365760"/>
          </a:xfrm>
          <a:prstGeom prst="roundRect">
            <a:avLst>
              <a:gd name="adj" fmla="val 12500"/>
            </a:avLst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846320" y="17373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040880" y="1344168"/>
            <a:ext cx="1463040" cy="292608"/>
          </a:xfrm>
          <a:prstGeom prst="roundRect">
            <a:avLst>
              <a:gd name="adj" fmla="val 15625"/>
            </a:avLst>
          </a:prstGeom>
          <a:solidFill>
            <a:srgbClr val="FBE3E0"/>
          </a:solidFill>
          <a:ln w="12700">
            <a:solidFill>
              <a:srgbClr val="F0B8B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040880" y="134416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Inventario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 flipV="1">
            <a:off x="5760720" y="1490472"/>
            <a:ext cx="1280160" cy="429768"/>
          </a:xfrm>
          <a:prstGeom prst="line">
            <a:avLst/>
          </a:prstGeom>
          <a:noFill/>
          <a:ln w="1270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7040880" y="1709928"/>
            <a:ext cx="1463040" cy="292608"/>
          </a:xfrm>
          <a:prstGeom prst="roundRect">
            <a:avLst>
              <a:gd name="adj" fmla="val 15625"/>
            </a:avLst>
          </a:prstGeom>
          <a:solidFill>
            <a:srgbClr val="FBE3E0"/>
          </a:solidFill>
          <a:ln w="12700">
            <a:solidFill>
              <a:srgbClr val="F0B8B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040880" y="170992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 flipV="1">
            <a:off x="5760720" y="1856232"/>
            <a:ext cx="1280160" cy="64008"/>
          </a:xfrm>
          <a:prstGeom prst="line">
            <a:avLst/>
          </a:prstGeom>
          <a:noFill/>
          <a:ln w="1270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7040880" y="2075688"/>
            <a:ext cx="1463040" cy="292608"/>
          </a:xfrm>
          <a:prstGeom prst="roundRect">
            <a:avLst>
              <a:gd name="adj" fmla="val 15625"/>
            </a:avLst>
          </a:prstGeom>
          <a:solidFill>
            <a:srgbClr val="FBE3E0"/>
          </a:solidFill>
          <a:ln w="12700">
            <a:solidFill>
              <a:srgbClr val="F0B8B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040880" y="207568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Facturación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760720" y="1920240"/>
            <a:ext cx="1280160" cy="301752"/>
          </a:xfrm>
          <a:prstGeom prst="line">
            <a:avLst/>
          </a:prstGeom>
          <a:noFill/>
          <a:ln w="1270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7040880" y="2441448"/>
            <a:ext cx="1463040" cy="292608"/>
          </a:xfrm>
          <a:prstGeom prst="roundRect">
            <a:avLst>
              <a:gd name="adj" fmla="val 15625"/>
            </a:avLst>
          </a:prstGeom>
          <a:solidFill>
            <a:srgbClr val="FBE3E0"/>
          </a:solidFill>
          <a:ln w="12700">
            <a:solidFill>
              <a:srgbClr val="F0B8B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040880" y="244144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760720" y="1920240"/>
            <a:ext cx="1280160" cy="667512"/>
          </a:xfrm>
          <a:prstGeom prst="line">
            <a:avLst/>
          </a:prstGeom>
          <a:noFill/>
          <a:ln w="1270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4846320" y="29260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Facade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846320" y="3657600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846320" y="36576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035040" y="3611880"/>
            <a:ext cx="914400" cy="457200"/>
          </a:xfrm>
          <a:prstGeom prst="roundRect">
            <a:avLst>
              <a:gd name="adj" fmla="val 10000"/>
            </a:avLst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035040" y="36118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Fachada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669280" y="3840480"/>
            <a:ext cx="365760" cy="0"/>
          </a:xfrm>
          <a:prstGeom prst="line">
            <a:avLst/>
          </a:prstGeom>
          <a:noFill/>
          <a:ln w="15875">
            <a:solidFill>
              <a:srgbClr val="1E8E5A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7315200" y="3246120"/>
            <a:ext cx="1188720" cy="256032"/>
          </a:xfrm>
          <a:prstGeom prst="roundRect">
            <a:avLst>
              <a:gd name="adj" fmla="val 17857"/>
            </a:avLst>
          </a:prstGeom>
          <a:solidFill>
            <a:srgbClr val="D8F0E4"/>
          </a:solidFill>
          <a:ln w="12700">
            <a:solidFill>
              <a:srgbClr val="A7DAB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315200" y="32461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Inventario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 flipV="1">
            <a:off x="6949440" y="3374136"/>
            <a:ext cx="365760" cy="466344"/>
          </a:xfrm>
          <a:prstGeom prst="line">
            <a:avLst/>
          </a:prstGeom>
          <a:noFill/>
          <a:ln w="12700">
            <a:solidFill>
              <a:srgbClr val="1E8E5A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7315200" y="3575304"/>
            <a:ext cx="1188720" cy="256032"/>
          </a:xfrm>
          <a:prstGeom prst="roundRect">
            <a:avLst>
              <a:gd name="adj" fmla="val 17857"/>
            </a:avLst>
          </a:prstGeom>
          <a:solidFill>
            <a:srgbClr val="D8F0E4"/>
          </a:solidFill>
          <a:ln w="12700">
            <a:solidFill>
              <a:srgbClr val="A7DAB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315200" y="357530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 flipV="1">
            <a:off x="6949440" y="3703320"/>
            <a:ext cx="365760" cy="137160"/>
          </a:xfrm>
          <a:prstGeom prst="line">
            <a:avLst/>
          </a:prstGeom>
          <a:noFill/>
          <a:ln w="12700">
            <a:solidFill>
              <a:srgbClr val="1E8E5A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7315200" y="3904488"/>
            <a:ext cx="1188720" cy="256032"/>
          </a:xfrm>
          <a:prstGeom prst="roundRect">
            <a:avLst>
              <a:gd name="adj" fmla="val 17857"/>
            </a:avLst>
          </a:prstGeom>
          <a:solidFill>
            <a:srgbClr val="D8F0E4"/>
          </a:solidFill>
          <a:ln w="12700">
            <a:solidFill>
              <a:srgbClr val="A7DABF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7315200" y="3904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Facturación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6949440" y="3840480"/>
            <a:ext cx="365760" cy="192024"/>
          </a:xfrm>
          <a:prstGeom prst="line">
            <a:avLst/>
          </a:prstGeom>
          <a:noFill/>
          <a:ln w="12700">
            <a:solidFill>
              <a:srgbClr val="1E8E5A"/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7315200" y="4233672"/>
            <a:ext cx="1188720" cy="256032"/>
          </a:xfrm>
          <a:prstGeom prst="roundRect">
            <a:avLst>
              <a:gd name="adj" fmla="val 17857"/>
            </a:avLst>
          </a:prstGeom>
          <a:solidFill>
            <a:srgbClr val="D8F0E4"/>
          </a:solidFill>
          <a:ln w="12700">
            <a:solidFill>
              <a:srgbClr val="A7DABF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7315200" y="423367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6949440" y="3840480"/>
            <a:ext cx="365760" cy="521208"/>
          </a:xfrm>
          <a:prstGeom prst="line">
            <a:avLst/>
          </a:prstGeom>
          <a:noFill/>
          <a:ln w="12700">
            <a:solidFill>
              <a:srgbClr val="1E8E5A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3291840"/>
            <a:ext cx="3840480" cy="292608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188720"/>
            <a:ext cx="2377440" cy="182880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146304"/>
            <a:ext cx="822960" cy="109728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256032"/>
            <a:ext cx="548640" cy="0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24344" y="64008"/>
            <a:ext cx="164592" cy="164592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65492" y="105156"/>
            <a:ext cx="82296" cy="82296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65592" y="192024"/>
            <a:ext cx="128016" cy="12801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9AD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97596" y="224028"/>
            <a:ext cx="64008" cy="64008"/>
          </a:xfrm>
          <a:prstGeom prst="ellipse">
            <a:avLst/>
          </a:prstGeom>
          <a:solidFill>
            <a:srgbClr val="9AD0F5"/>
          </a:solidFill>
          <a:ln w="12700">
            <a:solidFill>
              <a:srgbClr val="9AD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68512" y="146304"/>
            <a:ext cx="219456" cy="21945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23376" y="201168"/>
            <a:ext cx="109728" cy="109728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743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Facade: diagrama de clases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157216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57216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Análisis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53328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53328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Diseño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0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49440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Código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845552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45552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Pruebas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3 · Patrones de Diseño 2026-2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103120"/>
            <a:ext cx="1554480" cy="722376"/>
          </a:xfrm>
          <a:prstGeom prst="rect">
            <a:avLst/>
          </a:prstGeom>
          <a:solidFill>
            <a:srgbClr val="FFFFFF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2103120"/>
            <a:ext cx="1554480" cy="457200"/>
          </a:xfrm>
          <a:prstGeom prst="rect">
            <a:avLst/>
          </a:prstGeom>
          <a:solidFill>
            <a:srgbClr val="5BB4F0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21031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«control»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30352" y="2606040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(cliente)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560320" y="1600200"/>
            <a:ext cx="2514600" cy="1417320"/>
          </a:xfrm>
          <a:prstGeom prst="rect">
            <a:avLst/>
          </a:prstGeom>
          <a:solidFill>
            <a:srgbClr val="FFFFFF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60320" y="1600200"/>
            <a:ext cx="2514600" cy="457200"/>
          </a:xfrm>
          <a:prstGeom prst="rect">
            <a:avLst/>
          </a:prstGeom>
          <a:solidFill>
            <a:srgbClr val="3A3F4B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560320" y="16002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«facade»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VentaTiquetesFacade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2633472" y="2103120"/>
            <a:ext cx="2404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inventario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pago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facturacion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notificaciones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comprarTiquete(...)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806440" y="960120"/>
            <a:ext cx="2880360" cy="557784"/>
          </a:xfrm>
          <a:prstGeom prst="rect">
            <a:avLst/>
          </a:prstGeom>
          <a:solidFill>
            <a:srgbClr val="FFFFFF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06440" y="960120"/>
            <a:ext cx="2880360" cy="292608"/>
          </a:xfrm>
          <a:prstGeom prst="rect">
            <a:avLst/>
          </a:prstGeom>
          <a:solidFill>
            <a:srgbClr val="3A3F4B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806440" y="96012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InventarioSillas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5879592" y="1298448"/>
            <a:ext cx="2770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estaDisponible(), bloquear()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806440" y="1874520"/>
            <a:ext cx="2880360" cy="557784"/>
          </a:xfrm>
          <a:prstGeom prst="rect">
            <a:avLst/>
          </a:prstGeom>
          <a:solidFill>
            <a:srgbClr val="FFFFFF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806440" y="1874520"/>
            <a:ext cx="2880360" cy="292608"/>
          </a:xfrm>
          <a:prstGeom prst="rect">
            <a:avLst/>
          </a:prstGeom>
          <a:solidFill>
            <a:srgbClr val="3A3F4B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806440" y="187452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ServicioPago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879592" y="2212848"/>
            <a:ext cx="2770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validarMedioPago(), cobrar()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806440" y="2788920"/>
            <a:ext cx="2880360" cy="557784"/>
          </a:xfrm>
          <a:prstGeom prst="rect">
            <a:avLst/>
          </a:prstGeom>
          <a:solidFill>
            <a:srgbClr val="FFFFFF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06440" y="2788920"/>
            <a:ext cx="2880360" cy="292608"/>
          </a:xfrm>
          <a:prstGeom prst="rect">
            <a:avLst/>
          </a:prstGeom>
          <a:solidFill>
            <a:srgbClr val="3A3F4B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806440" y="278892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ServicioFacturacion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5879592" y="3127248"/>
            <a:ext cx="2770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generarFactura()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806440" y="3657600"/>
            <a:ext cx="2880360" cy="557784"/>
          </a:xfrm>
          <a:prstGeom prst="rect">
            <a:avLst/>
          </a:prstGeom>
          <a:solidFill>
            <a:srgbClr val="FFFFFF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806440" y="3657600"/>
            <a:ext cx="2880360" cy="292608"/>
          </a:xfrm>
          <a:prstGeom prst="rect">
            <a:avLst/>
          </a:prstGeom>
          <a:solidFill>
            <a:srgbClr val="3A3F4B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806440" y="365760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ServicioNotificaciones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879592" y="3995928"/>
            <a:ext cx="2770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enviarConfirmacion()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2011680" y="2468880"/>
            <a:ext cx="548640" cy="137160"/>
          </a:xfrm>
          <a:prstGeom prst="line">
            <a:avLst/>
          </a:prstGeom>
          <a:noFill/>
          <a:ln w="15875">
            <a:solidFill>
              <a:srgbClr val="3A3F4B"/>
            </a:solidFill>
            <a:prstDash val="solid"/>
            <a:tailEnd type="arrow"/>
          </a:ln>
        </p:spPr>
      </p:sp>
      <p:sp>
        <p:nvSpPr>
          <p:cNvPr id="48" name="Shape 46"/>
          <p:cNvSpPr/>
          <p:nvPr/>
        </p:nvSpPr>
        <p:spPr>
          <a:xfrm flipV="1">
            <a:off x="5074920" y="1239012"/>
            <a:ext cx="731520" cy="1367028"/>
          </a:xfrm>
          <a:prstGeom prst="line">
            <a:avLst/>
          </a:prstGeom>
          <a:noFill/>
          <a:ln w="15875">
            <a:solidFill>
              <a:srgbClr val="3A3F4B"/>
            </a:solidFill>
            <a:prstDash val="solid"/>
            <a:tailEnd type="arrow"/>
          </a:ln>
        </p:spPr>
      </p:sp>
      <p:sp>
        <p:nvSpPr>
          <p:cNvPr id="49" name="Shape 47"/>
          <p:cNvSpPr/>
          <p:nvPr/>
        </p:nvSpPr>
        <p:spPr>
          <a:xfrm flipV="1">
            <a:off x="5074920" y="2153412"/>
            <a:ext cx="731520" cy="452628"/>
          </a:xfrm>
          <a:prstGeom prst="line">
            <a:avLst/>
          </a:prstGeom>
          <a:noFill/>
          <a:ln w="15875">
            <a:solidFill>
              <a:srgbClr val="3A3F4B"/>
            </a:solidFill>
            <a:prstDash val="solid"/>
            <a:tailEnd type="arrow"/>
          </a:ln>
        </p:spPr>
      </p:sp>
      <p:sp>
        <p:nvSpPr>
          <p:cNvPr id="50" name="Shape 48"/>
          <p:cNvSpPr/>
          <p:nvPr/>
        </p:nvSpPr>
        <p:spPr>
          <a:xfrm>
            <a:off x="5074920" y="2606040"/>
            <a:ext cx="731520" cy="461772"/>
          </a:xfrm>
          <a:prstGeom prst="line">
            <a:avLst/>
          </a:prstGeom>
          <a:noFill/>
          <a:ln w="15875">
            <a:solidFill>
              <a:srgbClr val="3A3F4B"/>
            </a:solidFill>
            <a:prstDash val="solid"/>
            <a:tailEnd type="arrow"/>
          </a:ln>
        </p:spPr>
      </p:sp>
      <p:sp>
        <p:nvSpPr>
          <p:cNvPr id="51" name="Shape 49"/>
          <p:cNvSpPr/>
          <p:nvPr/>
        </p:nvSpPr>
        <p:spPr>
          <a:xfrm>
            <a:off x="5074920" y="2606040"/>
            <a:ext cx="731520" cy="1330452"/>
          </a:xfrm>
          <a:prstGeom prst="line">
            <a:avLst/>
          </a:prstGeom>
          <a:noFill/>
          <a:ln w="15875">
            <a:solidFill>
              <a:srgbClr val="3A3F4B"/>
            </a:solidFill>
            <a:prstDash val="solid"/>
            <a:tailEnd type="arrow"/>
          </a:ln>
        </p:spPr>
      </p:sp>
      <p:sp>
        <p:nvSpPr>
          <p:cNvPr id="52" name="Text 50"/>
          <p:cNvSpPr txBox="1"/>
          <p:nvPr/>
        </p:nvSpPr>
        <p:spPr>
          <a:xfrm>
            <a:off x="457200" y="324612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solo conoce la fachada. Los subsistemas siguen existiendo, pero el cliente ya no los usa.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4553712"/>
            <a:ext cx="182880" cy="128016"/>
          </a:xfrm>
          <a:prstGeom prst="rect">
            <a:avLst/>
          </a:prstGeom>
          <a:solidFill>
            <a:srgbClr val="5BB4F0"/>
          </a:solidFill>
          <a:ln w="9525">
            <a:solidFill>
              <a:srgbClr val="3A3F4B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13232" y="451713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 de control (coordina el flujo)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200400" y="4553712"/>
            <a:ext cx="182880" cy="128016"/>
          </a:xfrm>
          <a:prstGeom prst="rect">
            <a:avLst/>
          </a:prstGeom>
          <a:solidFill>
            <a:srgbClr val="3A3F4B"/>
          </a:solidFill>
          <a:ln w="9525">
            <a:solidFill>
              <a:srgbClr val="3A3F4B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3456432" y="451713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 del patrón / dominio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3291840"/>
            <a:ext cx="3840480" cy="292608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188720"/>
            <a:ext cx="2377440" cy="182880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146304"/>
            <a:ext cx="822960" cy="109728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256032"/>
            <a:ext cx="548640" cy="0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24344" y="64008"/>
            <a:ext cx="164592" cy="164592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65492" y="105156"/>
            <a:ext cx="82296" cy="82296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65592" y="192024"/>
            <a:ext cx="128016" cy="12801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9AD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97596" y="224028"/>
            <a:ext cx="64008" cy="64008"/>
          </a:xfrm>
          <a:prstGeom prst="ellipse">
            <a:avLst/>
          </a:prstGeom>
          <a:solidFill>
            <a:srgbClr val="9AD0F5"/>
          </a:solidFill>
          <a:ln w="12700">
            <a:solidFill>
              <a:srgbClr val="9AD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68512" y="146304"/>
            <a:ext cx="219456" cy="21945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23376" y="201168"/>
            <a:ext cx="109728" cy="109728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743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Facade: secuencia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157216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57216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Análisis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53328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53328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Diseño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0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49440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Código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845552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45552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Pruebas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3 · Patrones de Diseño 2026-2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8412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de comprarTiquete(): una sola llamada del cliente; la fachada coordina los seis pasos.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12064" y="1143000"/>
            <a:ext cx="1261872" cy="420624"/>
          </a:xfrm>
          <a:prstGeom prst="rect">
            <a:avLst/>
          </a:prstGeom>
          <a:solidFill>
            <a:srgbClr val="5BB4F0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2064" y="1143000"/>
            <a:ext cx="1261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1143000" y="1563624"/>
            <a:ext cx="0" cy="3099816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1883664" y="1143000"/>
            <a:ext cx="1261872" cy="42062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883664" y="1143000"/>
            <a:ext cx="1261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VentaTiquetesFacade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514600" y="1563624"/>
            <a:ext cx="0" cy="3099816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3255264" y="1143000"/>
            <a:ext cx="1261872" cy="42062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255264" y="1143000"/>
            <a:ext cx="1261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InventarioSillas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886200" y="1563624"/>
            <a:ext cx="0" cy="3099816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4626864" y="1143000"/>
            <a:ext cx="1261872" cy="42062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626864" y="1143000"/>
            <a:ext cx="1261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ServicioPago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257800" y="1563624"/>
            <a:ext cx="0" cy="3099816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5998464" y="1143000"/>
            <a:ext cx="1261872" cy="42062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998464" y="1143000"/>
            <a:ext cx="1261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ServicioFacturacion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629400" y="1563624"/>
            <a:ext cx="0" cy="3099816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7370064" y="1143000"/>
            <a:ext cx="1261872" cy="42062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70064" y="1143000"/>
            <a:ext cx="1261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ServicioNotificaciones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8001000" y="1563624"/>
            <a:ext cx="0" cy="3099816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1143000" y="1929384"/>
            <a:ext cx="1371600" cy="0"/>
          </a:xfrm>
          <a:prstGeom prst="line">
            <a:avLst/>
          </a:prstGeom>
          <a:noFill/>
          <a:ln w="13970">
            <a:solidFill>
              <a:srgbClr val="3A3F4B"/>
            </a:solidFill>
            <a:prstDash val="solid"/>
            <a:tailEnd type="arrow"/>
          </a:ln>
        </p:spPr>
      </p:sp>
      <p:sp>
        <p:nvSpPr>
          <p:cNvPr id="43" name="Text 41"/>
          <p:cNvSpPr txBox="1"/>
          <p:nvPr/>
        </p:nvSpPr>
        <p:spPr>
          <a:xfrm>
            <a:off x="1188720" y="17145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comprarTiquete()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2514600" y="2276856"/>
            <a:ext cx="1371600" cy="0"/>
          </a:xfrm>
          <a:prstGeom prst="line">
            <a:avLst/>
          </a:prstGeom>
          <a:noFill/>
          <a:ln w="13970">
            <a:solidFill>
              <a:srgbClr val="3A3F4B"/>
            </a:solidFill>
            <a:prstDash val="solid"/>
            <a:tailEnd type="arrow"/>
          </a:ln>
        </p:spPr>
      </p:sp>
      <p:sp>
        <p:nvSpPr>
          <p:cNvPr id="45" name="Text 43"/>
          <p:cNvSpPr txBox="1"/>
          <p:nvPr/>
        </p:nvSpPr>
        <p:spPr>
          <a:xfrm>
            <a:off x="2560320" y="20619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estaDisponible(7)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2514600" y="2624328"/>
            <a:ext cx="2743200" cy="0"/>
          </a:xfrm>
          <a:prstGeom prst="line">
            <a:avLst/>
          </a:prstGeom>
          <a:noFill/>
          <a:ln w="13970">
            <a:solidFill>
              <a:srgbClr val="3A3F4B"/>
            </a:solidFill>
            <a:prstDash val="solid"/>
            <a:tailEnd type="arrow"/>
          </a:ln>
        </p:spPr>
      </p:sp>
      <p:sp>
        <p:nvSpPr>
          <p:cNvPr id="47" name="Text 45"/>
          <p:cNvSpPr txBox="1"/>
          <p:nvPr/>
        </p:nvSpPr>
        <p:spPr>
          <a:xfrm>
            <a:off x="2560320" y="24094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validarMedioPago()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514600" y="2971800"/>
            <a:ext cx="1371600" cy="0"/>
          </a:xfrm>
          <a:prstGeom prst="line">
            <a:avLst/>
          </a:prstGeom>
          <a:noFill/>
          <a:ln w="13970">
            <a:solidFill>
              <a:srgbClr val="3A3F4B"/>
            </a:solidFill>
            <a:prstDash val="solid"/>
            <a:tailEnd type="arrow"/>
          </a:ln>
        </p:spPr>
      </p:sp>
      <p:sp>
        <p:nvSpPr>
          <p:cNvPr id="49" name="Text 47"/>
          <p:cNvSpPr txBox="1"/>
          <p:nvPr/>
        </p:nvSpPr>
        <p:spPr>
          <a:xfrm>
            <a:off x="2560320" y="27569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bloquear(7)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2514600" y="3319272"/>
            <a:ext cx="2743200" cy="0"/>
          </a:xfrm>
          <a:prstGeom prst="line">
            <a:avLst/>
          </a:prstGeom>
          <a:noFill/>
          <a:ln w="13970">
            <a:solidFill>
              <a:srgbClr val="3A3F4B"/>
            </a:solidFill>
            <a:prstDash val="solid"/>
            <a:tailEnd type="arrow"/>
          </a:ln>
        </p:spPr>
      </p:sp>
      <p:sp>
        <p:nvSpPr>
          <p:cNvPr id="51" name="Text 49"/>
          <p:cNvSpPr txBox="1"/>
          <p:nvPr/>
        </p:nvSpPr>
        <p:spPr>
          <a:xfrm>
            <a:off x="2560320" y="310438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cobrar()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2514600" y="3666744"/>
            <a:ext cx="4114800" cy="0"/>
          </a:xfrm>
          <a:prstGeom prst="line">
            <a:avLst/>
          </a:prstGeom>
          <a:noFill/>
          <a:ln w="13970">
            <a:solidFill>
              <a:srgbClr val="3A3F4B"/>
            </a:solidFill>
            <a:prstDash val="solid"/>
            <a:tailEnd type="arrow"/>
          </a:ln>
        </p:spPr>
      </p:sp>
      <p:sp>
        <p:nvSpPr>
          <p:cNvPr id="53" name="Text 51"/>
          <p:cNvSpPr txBox="1"/>
          <p:nvPr/>
        </p:nvSpPr>
        <p:spPr>
          <a:xfrm>
            <a:off x="2560320" y="345186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generarFactura()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2514600" y="4014216"/>
            <a:ext cx="5486400" cy="0"/>
          </a:xfrm>
          <a:prstGeom prst="line">
            <a:avLst/>
          </a:prstGeom>
          <a:noFill/>
          <a:ln w="13970">
            <a:solidFill>
              <a:srgbClr val="3A3F4B"/>
            </a:solidFill>
            <a:prstDash val="solid"/>
            <a:tailEnd type="arrow"/>
          </a:ln>
        </p:spPr>
      </p:sp>
      <p:sp>
        <p:nvSpPr>
          <p:cNvPr id="55" name="Text 53"/>
          <p:cNvSpPr txBox="1"/>
          <p:nvPr/>
        </p:nvSpPr>
        <p:spPr>
          <a:xfrm>
            <a:off x="2560320" y="3799332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enviarConfirmacion()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 flipH="1">
            <a:off x="1143000" y="4361688"/>
            <a:ext cx="1371600" cy="0"/>
          </a:xfrm>
          <a:prstGeom prst="line">
            <a:avLst/>
          </a:prstGeom>
          <a:noFill/>
          <a:ln w="13970">
            <a:solidFill>
              <a:srgbClr val="5B6577"/>
            </a:solidFill>
            <a:prstDash val="dash"/>
            <a:tailEnd type="arrow"/>
          </a:ln>
        </p:spPr>
      </p:sp>
      <p:sp>
        <p:nvSpPr>
          <p:cNvPr id="57" name="Text 55"/>
          <p:cNvSpPr txBox="1"/>
          <p:nvPr/>
        </p:nvSpPr>
        <p:spPr>
          <a:xfrm>
            <a:off x="1188720" y="414680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true (compra exitosa)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3291840"/>
            <a:ext cx="3840480" cy="292608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188720"/>
            <a:ext cx="2377440" cy="182880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146304"/>
            <a:ext cx="822960" cy="109728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256032"/>
            <a:ext cx="548640" cy="0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24344" y="64008"/>
            <a:ext cx="164592" cy="164592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65492" y="105156"/>
            <a:ext cx="82296" cy="82296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65592" y="192024"/>
            <a:ext cx="128016" cy="12801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9AD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97596" y="224028"/>
            <a:ext cx="64008" cy="64008"/>
          </a:xfrm>
          <a:prstGeom prst="ellipse">
            <a:avLst/>
          </a:prstGeom>
          <a:solidFill>
            <a:srgbClr val="9AD0F5"/>
          </a:solidFill>
          <a:ln w="12700">
            <a:solidFill>
              <a:srgbClr val="9AD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68512" y="146304"/>
            <a:ext cx="219456" cy="21945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23376" y="201168"/>
            <a:ext cx="109728" cy="109728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743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Facade: código (1/2)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157216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57216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Análisis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53328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53328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Diseño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0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49440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Código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845552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45552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Pruebas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3 · Patrones de Diseño 2026-2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080760" y="914400"/>
            <a:ext cx="2606040" cy="37947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99632" y="9875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por línea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199632" y="1261872"/>
            <a:ext cx="239572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InventarioSillas L5  </a:t>
            </a:r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subsistema de ejemplo: sabe qué sillas están ocupadas. Hay otros tres: pago, facturación y notificaciones.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InventarioSillas L6  </a:t>
            </a:r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interno: conjunto de sillas ocupadas.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InventarioSillas L8-11  </a:t>
            </a:r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si la silla está libre. Sin fachada, cada cliente tendría que llamarlo.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VentaTiquetesFacade L6  </a:t>
            </a:r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fachada: la única clase que el cliente necesita conocer.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VentaTiquetesFacade L7-11  </a:t>
            </a:r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 una referencia a cada subsistema; el cliente no las ve.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VentaTiquetesFacade L13-14  </a:t>
            </a:r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método público recibe todos los datos de la compra.</a:t>
            </a:r>
            <a:endParaRPr lang="en-US" sz="900" dirty="0"/>
          </a:p>
        </p:txBody>
      </p:sp>
      <p:pic>
        <p:nvPicPr>
          <p:cNvPr id="32" name="Picture 31" descr="Facade InventarioSillas java DIA 15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3302" y="914400"/>
            <a:ext cx="3074196" cy="1248664"/>
          </a:xfrm>
          <a:prstGeom prst="rect">
            <a:avLst/>
          </a:prstGeom>
        </p:spPr>
      </p:pic>
      <p:pic>
        <p:nvPicPr>
          <p:cNvPr id="33" name="Picture 32" descr="Facade VentaTiquetesFacadejava DIA 15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7294" y="2254504"/>
            <a:ext cx="3226211" cy="149047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3291840"/>
            <a:ext cx="3840480" cy="292608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188720"/>
            <a:ext cx="2377440" cy="182880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146304"/>
            <a:ext cx="822960" cy="109728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256032"/>
            <a:ext cx="548640" cy="0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24344" y="64008"/>
            <a:ext cx="164592" cy="164592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65492" y="105156"/>
            <a:ext cx="82296" cy="82296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65592" y="192024"/>
            <a:ext cx="128016" cy="12801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9AD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97596" y="224028"/>
            <a:ext cx="64008" cy="64008"/>
          </a:xfrm>
          <a:prstGeom prst="ellipse">
            <a:avLst/>
          </a:prstGeom>
          <a:solidFill>
            <a:srgbClr val="9AD0F5"/>
          </a:solidFill>
          <a:ln w="12700">
            <a:solidFill>
              <a:srgbClr val="9AD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68512" y="146304"/>
            <a:ext cx="219456" cy="21945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23376" y="201168"/>
            <a:ext cx="109728" cy="109728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743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Facade: código (2/2)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157216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57216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Análisis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53328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53328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Diseño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0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49440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Código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845552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45552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Pruebas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3 · Patrones de Diseño 2026-2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080760" y="914400"/>
            <a:ext cx="2606040" cy="37947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99632" y="9875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por línea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199632" y="1261872"/>
            <a:ext cx="239572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VentaTiquetesFacade L15 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en consola: inicio de la operación.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VentaTiquetesFacade L17-20 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1: si la silla está ocupada, cancela y devuelve false.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VentaTiquetesFacade L21-24 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2: valida el medio de pago antes de cobrar.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VentaTiquetesFacade L25 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3: reserva la silla.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VentaTiquetesFacade L26 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4: cobra y guarda el código de transacción.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VentaTiquetesFacade L27-28 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5: genera la factura con esa transacción.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VentaTiquetesFacade L29 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6: envía la confirmación al correo.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VentaTiquetesFacade L31 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Devuelve true: compra exitosa.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L28-29 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hace UNA llamada; antes eran seis pasos.</a:t>
            </a:r>
            <a:endParaRPr lang="en-US" sz="850" dirty="0"/>
          </a:p>
        </p:txBody>
      </p:sp>
      <p:pic>
        <p:nvPicPr>
          <p:cNvPr id="32" name="Picture 31" descr="Facade VentaTiquetesFacadejava DIA 16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92" y="914400"/>
            <a:ext cx="5149216" cy="2457704"/>
          </a:xfrm>
          <a:prstGeom prst="rect">
            <a:avLst/>
          </a:prstGeom>
        </p:spPr>
      </p:pic>
      <p:pic>
        <p:nvPicPr>
          <p:cNvPr id="33" name="Picture 32" descr="Facade Mainjava DIA16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90930" y="3463544"/>
            <a:ext cx="1818940" cy="76504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3291840"/>
            <a:ext cx="3840480" cy="292608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188720"/>
            <a:ext cx="2377440" cy="182880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146304"/>
            <a:ext cx="822960" cy="109728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256032"/>
            <a:ext cx="548640" cy="0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24344" y="64008"/>
            <a:ext cx="164592" cy="164592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65492" y="105156"/>
            <a:ext cx="82296" cy="82296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65592" y="192024"/>
            <a:ext cx="128016" cy="12801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9AD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97596" y="224028"/>
            <a:ext cx="64008" cy="64008"/>
          </a:xfrm>
          <a:prstGeom prst="ellipse">
            <a:avLst/>
          </a:prstGeom>
          <a:solidFill>
            <a:srgbClr val="9AD0F5"/>
          </a:solidFill>
          <a:ln w="12700">
            <a:solidFill>
              <a:srgbClr val="9AD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68512" y="146304"/>
            <a:ext cx="219456" cy="21945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23376" y="201168"/>
            <a:ext cx="109728" cy="109728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743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Facade: pruebas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157216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57216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Análisis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53328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53328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Diseño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0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49440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Código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845552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45552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Pruebas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3 · Patrones de Diseño 2026-2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0" y="914400"/>
            <a:ext cx="32004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5623560" y="9875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comprobamos?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623560" y="1261872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compra de la silla 7 ejecuta los 6 pasos con una sola llamada.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segundo intento sobre la silla 7 se cancela en el paso 1.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Main con fachada necesita 1 llamada; sin fachada, 6.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0" y="2651760"/>
            <a:ext cx="3200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596128" y="2724912"/>
            <a:ext cx="256032" cy="256032"/>
          </a:xfrm>
          <a:prstGeom prst="ellipse">
            <a:avLst/>
          </a:prstGeom>
          <a:solidFill>
            <a:srgbClr val="1E8E5A"/>
          </a:solidFill>
          <a:ln w="12700">
            <a:solidFill>
              <a:srgbClr val="1E8E5A"/>
            </a:solidFill>
            <a:prstDash val="solid"/>
          </a:ln>
        </p:spPr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57576" y="2786360"/>
            <a:ext cx="133137" cy="133137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5925312" y="272491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Ventajas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623560" y="301752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Aísla al cliente de la complejidad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lugar para el flujo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5486400" y="3749040"/>
            <a:ext cx="32004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5596128" y="3822192"/>
            <a:ext cx="256032" cy="25603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76" y="3883640"/>
            <a:ext cx="133137" cy="133137"/>
          </a:xfrm>
          <a:prstGeom prst="rect">
            <a:avLst/>
          </a:prstGeom>
        </p:spPr>
      </p:pic>
      <p:sp>
        <p:nvSpPr>
          <p:cNvPr id="37" name="Text 33"/>
          <p:cNvSpPr txBox="1"/>
          <p:nvPr/>
        </p:nvSpPr>
        <p:spPr>
          <a:xfrm>
            <a:off x="5925312" y="38221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Desventajas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5623560" y="409651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volverse un «objeto Dios»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capa extra que mantener</a:t>
            </a:r>
            <a:endParaRPr lang="en-US" sz="950" dirty="0"/>
          </a:p>
        </p:txBody>
      </p:sp>
      <p:pic>
        <p:nvPicPr>
          <p:cNvPr id="39" name="Picture 38" descr="FACAD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795" y="914400"/>
            <a:ext cx="4029410" cy="362102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0" y="274320"/>
            <a:ext cx="4754880" cy="4389120"/>
          </a:xfrm>
          <a:prstGeom prst="ellipse">
            <a:avLst/>
          </a:prstGeom>
          <a:solidFill>
            <a:srgbClr val="E4F2FC"/>
          </a:solidFill>
          <a:ln w="12700">
            <a:solidFill>
              <a:srgbClr val="E4F2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3566160"/>
            <a:ext cx="2926080" cy="219456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457200"/>
            <a:ext cx="822960" cy="109728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0" y="566928"/>
            <a:ext cx="548640" cy="0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141464" y="374904"/>
            <a:ext cx="164592" cy="164592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82612" y="416052"/>
            <a:ext cx="82296" cy="82296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982712" y="502920"/>
            <a:ext cx="128016" cy="12801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9AD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14716" y="534924"/>
            <a:ext cx="64008" cy="64008"/>
          </a:xfrm>
          <a:prstGeom prst="ellipse">
            <a:avLst/>
          </a:prstGeom>
          <a:solidFill>
            <a:srgbClr val="9AD0F5"/>
          </a:solidFill>
          <a:ln w="12700">
            <a:solidFill>
              <a:srgbClr val="9AD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85632" y="457200"/>
            <a:ext cx="219456" cy="21945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40496" y="512064"/>
            <a:ext cx="109728" cy="109728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548640"/>
            <a:ext cx="822960" cy="822960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150" y="746150"/>
            <a:ext cx="427939" cy="427939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600200" y="5486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Flyweight</a:t>
            </a:r>
            <a:endParaRPr lang="en-US" sz="48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1508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 ESTRUCTURAL  ·  también llamado Peso ligero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192024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manejar una gran cantidad de objetos compartiendo la parte de su estado que es común, en lugar de duplicarla en cada uno.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548640" y="3429000"/>
            <a:ext cx="8046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77240" y="35478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Analogía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379476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las letras de un editor de texto: la forma de la «a» se guarda una sola vez; lo que cambia en cada aparición es solo su posición.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3291840"/>
            <a:ext cx="3840480" cy="292608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188720"/>
            <a:ext cx="2377440" cy="182880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146304"/>
            <a:ext cx="822960" cy="109728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256032"/>
            <a:ext cx="548640" cy="0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24344" y="64008"/>
            <a:ext cx="164592" cy="164592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65492" y="105156"/>
            <a:ext cx="82296" cy="82296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65592" y="192024"/>
            <a:ext cx="128016" cy="12801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9AD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97596" y="224028"/>
            <a:ext cx="64008" cy="64008"/>
          </a:xfrm>
          <a:prstGeom prst="ellipse">
            <a:avLst/>
          </a:prstGeom>
          <a:solidFill>
            <a:srgbClr val="9AD0F5"/>
          </a:solidFill>
          <a:ln w="12700">
            <a:solidFill>
              <a:srgbClr val="9AD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68512" y="146304"/>
            <a:ext cx="219456" cy="21945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23376" y="201168"/>
            <a:ext cx="109728" cy="109728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743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Flyweight: análisis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157216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57216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Análisis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53328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53328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Diseño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0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49440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Código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845552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45552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Pruebas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3 · Patrones de Diseño 2026-2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960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Situación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1234440"/>
            <a:ext cx="3931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mapa de monitoreo GPS dibuja miles de buses. Cada bus repite marca, modelo, capacidad y un recurso gráfico pesado que es idéntico para todos los buses del mismo modelo.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2514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2788920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RF1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Mostrar en el mapa la posición de 5.000 buses.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RF2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bus muestra placa, posición, marca, modelo y capacidad.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RNF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consumo de memoria: los datos del modelo no se duplican por bus.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2245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Úsalo cuando: manejas una enorme cantidad de objetos parecidos y la memoria es un problema real.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663440" y="960120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4846320" y="1097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intrínseco (compartido)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4846320" y="1344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marca, modelo, capacidad, recurso 3D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846320" y="17373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extrínseco (propio de cada bus)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846320" y="19842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placa, latitud, longitud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846320" y="2468880"/>
            <a:ext cx="1783080" cy="1737360"/>
          </a:xfrm>
          <a:prstGeom prst="roundRect">
            <a:avLst>
              <a:gd name="adj" fmla="val 4211"/>
            </a:avLst>
          </a:prstGeom>
          <a:solidFill>
            <a:srgbClr val="FBE3E0"/>
          </a:solidFill>
          <a:ln w="12700">
            <a:solidFill>
              <a:srgbClr val="F0B8B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20840" y="2468880"/>
            <a:ext cx="1783080" cy="1737360"/>
          </a:xfrm>
          <a:prstGeom prst="roundRect">
            <a:avLst>
              <a:gd name="adj" fmla="val 4211"/>
            </a:avLst>
          </a:prstGeom>
          <a:solidFill>
            <a:srgbClr val="D8F0E4"/>
          </a:solidFill>
          <a:ln w="12700">
            <a:solidFill>
              <a:srgbClr val="A7DAB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846320" y="256032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Flyweight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4846320" y="28346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0392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99 MB</a:t>
            </a:r>
            <a:endParaRPr lang="en-US" sz="3200" dirty="0"/>
          </a:p>
        </p:txBody>
      </p:sp>
      <p:sp>
        <p:nvSpPr>
          <p:cNvPr id="37" name="Text 35"/>
          <p:cNvSpPr txBox="1"/>
          <p:nvPr/>
        </p:nvSpPr>
        <p:spPr>
          <a:xfrm>
            <a:off x="4846320" y="35661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5.000 objetos TipoBus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720840" y="256032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Flyweight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6720840" y="28346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8E5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0,5 MB</a:t>
            </a:r>
            <a:endParaRPr lang="en-US" sz="3200" dirty="0"/>
          </a:p>
        </p:txBody>
      </p:sp>
      <p:sp>
        <p:nvSpPr>
          <p:cNvPr id="40" name="Text 38"/>
          <p:cNvSpPr txBox="1"/>
          <p:nvPr/>
        </p:nvSpPr>
        <p:spPr>
          <a:xfrm>
            <a:off x="6720840" y="35661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objetos TipoBus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4846320" y="42976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 en nuestro ejemplo (aproximado)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3291840"/>
            <a:ext cx="3840480" cy="292608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188720"/>
            <a:ext cx="2377440" cy="182880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146304"/>
            <a:ext cx="822960" cy="109728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256032"/>
            <a:ext cx="548640" cy="0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24344" y="64008"/>
            <a:ext cx="164592" cy="164592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65492" y="105156"/>
            <a:ext cx="82296" cy="82296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65592" y="192024"/>
            <a:ext cx="128016" cy="12801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9AD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97596" y="224028"/>
            <a:ext cx="64008" cy="64008"/>
          </a:xfrm>
          <a:prstGeom prst="ellipse">
            <a:avLst/>
          </a:prstGeom>
          <a:solidFill>
            <a:srgbClr val="9AD0F5"/>
          </a:solidFill>
          <a:ln w="12700">
            <a:solidFill>
              <a:srgbClr val="9AD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68512" y="146304"/>
            <a:ext cx="219456" cy="21945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23376" y="201168"/>
            <a:ext cx="109728" cy="109728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743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Flyweight: diagrama de clases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157216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57216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Análisis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53328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53328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Diseño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0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49440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Código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845552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45552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Pruebas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3 · Patrones de Diseño 2026-2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429000"/>
            <a:ext cx="1554480" cy="722376"/>
          </a:xfrm>
          <a:prstGeom prst="rect">
            <a:avLst/>
          </a:prstGeom>
          <a:solidFill>
            <a:srgbClr val="FFFFFF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3429000"/>
            <a:ext cx="1554480" cy="457200"/>
          </a:xfrm>
          <a:prstGeom prst="rect">
            <a:avLst/>
          </a:prstGeom>
          <a:solidFill>
            <a:srgbClr val="5BB4F0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34290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«control»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30352" y="3931920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(cliente)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7200" y="1097280"/>
            <a:ext cx="2651760" cy="1252728"/>
          </a:xfrm>
          <a:prstGeom prst="rect">
            <a:avLst/>
          </a:prstGeom>
          <a:solidFill>
            <a:srgbClr val="FFFFFF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1097280"/>
            <a:ext cx="2651760" cy="292608"/>
          </a:xfrm>
          <a:prstGeom prst="rect">
            <a:avLst/>
          </a:prstGeom>
          <a:solidFill>
            <a:srgbClr val="3A3F4B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" y="10972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BusEnRuta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30352" y="1435608"/>
            <a:ext cx="2542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placa: String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latitud, longitud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tipo: TipoBus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mover(lat, lon)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dibujar()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749040" y="1097280"/>
            <a:ext cx="2743200" cy="1078992"/>
          </a:xfrm>
          <a:prstGeom prst="rect">
            <a:avLst/>
          </a:prstGeom>
          <a:solidFill>
            <a:srgbClr val="FFFFFF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49040" y="1097280"/>
            <a:ext cx="2743200" cy="292608"/>
          </a:xfrm>
          <a:prstGeom prst="rect">
            <a:avLst/>
          </a:prstGeom>
          <a:solidFill>
            <a:srgbClr val="3A3F4B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749040" y="1097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TipoBus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3822192" y="1435608"/>
            <a:ext cx="263347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marca, modelo: String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capacidad: int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modelo3D: byte[]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dibujar(placa, lat, lon)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3749040" y="3200400"/>
            <a:ext cx="2743200" cy="905256"/>
          </a:xfrm>
          <a:prstGeom prst="rect">
            <a:avLst/>
          </a:prstGeom>
          <a:solidFill>
            <a:srgbClr val="FFFFFF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49040" y="3200400"/>
            <a:ext cx="2743200" cy="292608"/>
          </a:xfrm>
          <a:prstGeom prst="rect">
            <a:avLst/>
          </a:prstGeom>
          <a:solidFill>
            <a:srgbClr val="3A3F4B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749040" y="32004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TipoBusFactory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3822192" y="3538728"/>
            <a:ext cx="2633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CACHE: Map&lt;String,TipoBus&gt;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obtener(marca, modelo,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capacidad): TipoBus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3108960" y="1783080"/>
            <a:ext cx="640080" cy="0"/>
          </a:xfrm>
          <a:prstGeom prst="line">
            <a:avLst/>
          </a:prstGeom>
          <a:noFill/>
          <a:ln w="15875">
            <a:solidFill>
              <a:srgbClr val="3A3F4B"/>
            </a:solidFill>
            <a:prstDash val="solid"/>
            <a:tailEnd type="arrow"/>
          </a:ln>
        </p:spPr>
      </p:sp>
      <p:sp>
        <p:nvSpPr>
          <p:cNvPr id="40" name="Text 38"/>
          <p:cNvSpPr txBox="1"/>
          <p:nvPr/>
        </p:nvSpPr>
        <p:spPr>
          <a:xfrm>
            <a:off x="3127248" y="150876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 flipV="1">
            <a:off x="5120640" y="2176272"/>
            <a:ext cx="0" cy="1024128"/>
          </a:xfrm>
          <a:prstGeom prst="line">
            <a:avLst/>
          </a:prstGeom>
          <a:noFill/>
          <a:ln w="15875">
            <a:solidFill>
              <a:srgbClr val="3A3F4B"/>
            </a:solidFill>
            <a:prstDash val="dash"/>
            <a:tailEnd type="arrow"/>
          </a:ln>
        </p:spPr>
      </p:sp>
      <p:sp>
        <p:nvSpPr>
          <p:cNvPr id="42" name="Text 40"/>
          <p:cNvSpPr txBox="1"/>
          <p:nvPr/>
        </p:nvSpPr>
        <p:spPr>
          <a:xfrm>
            <a:off x="5193792" y="288036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/ reutiliza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 flipV="1">
            <a:off x="1234440" y="2350008"/>
            <a:ext cx="0" cy="1078992"/>
          </a:xfrm>
          <a:prstGeom prst="line">
            <a:avLst/>
          </a:prstGeom>
          <a:noFill/>
          <a:ln w="15875">
            <a:solidFill>
              <a:srgbClr val="3A3F4B"/>
            </a:solidFill>
            <a:prstDash val="solid"/>
            <a:tailEnd type="arrow"/>
          </a:ln>
        </p:spPr>
      </p:sp>
      <p:sp>
        <p:nvSpPr>
          <p:cNvPr id="44" name="Shape 42"/>
          <p:cNvSpPr/>
          <p:nvPr/>
        </p:nvSpPr>
        <p:spPr>
          <a:xfrm flipV="1">
            <a:off x="2011680" y="3749040"/>
            <a:ext cx="1737360" cy="45720"/>
          </a:xfrm>
          <a:prstGeom prst="line">
            <a:avLst/>
          </a:prstGeom>
          <a:noFill/>
          <a:ln w="15875">
            <a:solidFill>
              <a:srgbClr val="3A3F4B"/>
            </a:solidFill>
            <a:prstDash val="solid"/>
            <a:tailEnd type="arrow"/>
          </a:ln>
        </p:spPr>
      </p:sp>
      <p:sp>
        <p:nvSpPr>
          <p:cNvPr id="45" name="Shape 43"/>
          <p:cNvSpPr/>
          <p:nvPr/>
        </p:nvSpPr>
        <p:spPr>
          <a:xfrm>
            <a:off x="6766560" y="1097280"/>
            <a:ext cx="1920240" cy="2084832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6903720" y="11887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Participantes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903720" y="148132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Flyweight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6903720" y="167335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TipoBus (inmutable)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6903720" y="204825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FlyweightFactory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6903720" y="22402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TipoBusFactory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903720" y="261518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6903720" y="280720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BusEnRuta (estado extrínseco)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4553712"/>
            <a:ext cx="182880" cy="128016"/>
          </a:xfrm>
          <a:prstGeom prst="rect">
            <a:avLst/>
          </a:prstGeom>
          <a:solidFill>
            <a:srgbClr val="5BB4F0"/>
          </a:solidFill>
          <a:ln w="9525">
            <a:solidFill>
              <a:srgbClr val="3A3F4B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13232" y="451713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 de control (coordina el flujo)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200400" y="4553712"/>
            <a:ext cx="182880" cy="128016"/>
          </a:xfrm>
          <a:prstGeom prst="rect">
            <a:avLst/>
          </a:prstGeom>
          <a:solidFill>
            <a:srgbClr val="3A3F4B"/>
          </a:solidFill>
          <a:ln w="9525">
            <a:solidFill>
              <a:srgbClr val="3A3F4B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3456432" y="451713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 del patrón / dominio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3291840"/>
            <a:ext cx="3840480" cy="292608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188720"/>
            <a:ext cx="2377440" cy="182880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146304"/>
            <a:ext cx="822960" cy="109728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256032"/>
            <a:ext cx="548640" cy="0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24344" y="64008"/>
            <a:ext cx="164592" cy="164592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65492" y="105156"/>
            <a:ext cx="82296" cy="82296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65592" y="192024"/>
            <a:ext cx="128016" cy="12801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9AD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97596" y="224028"/>
            <a:ext cx="64008" cy="64008"/>
          </a:xfrm>
          <a:prstGeom prst="ellipse">
            <a:avLst/>
          </a:prstGeom>
          <a:solidFill>
            <a:srgbClr val="9AD0F5"/>
          </a:solidFill>
          <a:ln w="12700">
            <a:solidFill>
              <a:srgbClr val="9AD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68512" y="146304"/>
            <a:ext cx="219456" cy="21945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23376" y="201168"/>
            <a:ext cx="109728" cy="109728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743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Flyweight: secuencia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157216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57216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Análisis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53328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53328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Diseño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0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49440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Código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845552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45552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Pruebas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3 · Patrones de Diseño 2026-2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8412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para dibujar un bus: la fábrica entrega el TipoBus compartido (lo crea solo la primera vez) y cada BusEnRuta le pasa su estado propio.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77240" y="1143000"/>
            <a:ext cx="1417320" cy="420624"/>
          </a:xfrm>
          <a:prstGeom prst="rect">
            <a:avLst/>
          </a:prstGeom>
          <a:solidFill>
            <a:srgbClr val="5BB4F0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114300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1485900" y="1563624"/>
            <a:ext cx="0" cy="3099816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2834640" y="1143000"/>
            <a:ext cx="1417320" cy="42062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834640" y="114300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TipoBusFactory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543300" y="1563624"/>
            <a:ext cx="0" cy="3099816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4892040" y="1143000"/>
            <a:ext cx="1417320" cy="42062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892040" y="114300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TipoBus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600700" y="1563624"/>
            <a:ext cx="0" cy="3099816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949440" y="1143000"/>
            <a:ext cx="1417320" cy="42062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949440" y="114300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BusEnRuta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658100" y="1563624"/>
            <a:ext cx="0" cy="3099816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1485900" y="1929384"/>
            <a:ext cx="2057400" cy="0"/>
          </a:xfrm>
          <a:prstGeom prst="line">
            <a:avLst/>
          </a:prstGeom>
          <a:noFill/>
          <a:ln w="13970">
            <a:solidFill>
              <a:srgbClr val="3A3F4B"/>
            </a:solidFill>
            <a:prstDash val="solid"/>
            <a:tailEnd type="arrow"/>
          </a:ln>
        </p:spPr>
      </p:sp>
      <p:sp>
        <p:nvSpPr>
          <p:cNvPr id="37" name="Text 35"/>
          <p:cNvSpPr txBox="1"/>
          <p:nvPr/>
        </p:nvSpPr>
        <p:spPr>
          <a:xfrm>
            <a:off x="1531620" y="171450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obtener(Volvo, B8R, 46)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543300" y="2276856"/>
            <a:ext cx="2057400" cy="0"/>
          </a:xfrm>
          <a:prstGeom prst="line">
            <a:avLst/>
          </a:prstGeom>
          <a:noFill/>
          <a:ln w="13970">
            <a:solidFill>
              <a:srgbClr val="3A3F4B"/>
            </a:solidFill>
            <a:prstDash val="solid"/>
            <a:tailEnd type="arrow"/>
          </a:ln>
        </p:spPr>
      </p:sp>
      <p:sp>
        <p:nvSpPr>
          <p:cNvPr id="39" name="Text 37"/>
          <p:cNvSpPr txBox="1"/>
          <p:nvPr/>
        </p:nvSpPr>
        <p:spPr>
          <a:xfrm>
            <a:off x="3589020" y="2061972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new TipoBus (1ª vez)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 flipH="1">
            <a:off x="1485900" y="2624328"/>
            <a:ext cx="2057400" cy="0"/>
          </a:xfrm>
          <a:prstGeom prst="line">
            <a:avLst/>
          </a:prstGeom>
          <a:noFill/>
          <a:ln w="13970">
            <a:solidFill>
              <a:srgbClr val="5B6577"/>
            </a:solidFill>
            <a:prstDash val="dash"/>
            <a:tailEnd type="arrow"/>
          </a:ln>
        </p:spPr>
      </p:sp>
      <p:sp>
        <p:nvSpPr>
          <p:cNvPr id="41" name="Text 39"/>
          <p:cNvSpPr txBox="1"/>
          <p:nvPr/>
        </p:nvSpPr>
        <p:spPr>
          <a:xfrm>
            <a:off x="1531620" y="2409444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TipoBus compartido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485900" y="2971800"/>
            <a:ext cx="6172200" cy="0"/>
          </a:xfrm>
          <a:prstGeom prst="line">
            <a:avLst/>
          </a:prstGeom>
          <a:noFill/>
          <a:ln w="13970">
            <a:solidFill>
              <a:srgbClr val="3A3F4B"/>
            </a:solidFill>
            <a:prstDash val="solid"/>
            <a:tailEnd type="arrow"/>
          </a:ln>
        </p:spPr>
      </p:sp>
      <p:sp>
        <p:nvSpPr>
          <p:cNvPr id="43" name="Text 41"/>
          <p:cNvSpPr txBox="1"/>
          <p:nvPr/>
        </p:nvSpPr>
        <p:spPr>
          <a:xfrm>
            <a:off x="1531620" y="2756916"/>
            <a:ext cx="6080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new BusEnRuta(placa, lat, lon, tipo)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485900" y="3319272"/>
            <a:ext cx="6172200" cy="0"/>
          </a:xfrm>
          <a:prstGeom prst="line">
            <a:avLst/>
          </a:prstGeom>
          <a:noFill/>
          <a:ln w="13970">
            <a:solidFill>
              <a:srgbClr val="3A3F4B"/>
            </a:solidFill>
            <a:prstDash val="solid"/>
            <a:tailEnd type="arrow"/>
          </a:ln>
        </p:spPr>
      </p:sp>
      <p:sp>
        <p:nvSpPr>
          <p:cNvPr id="45" name="Text 43"/>
          <p:cNvSpPr txBox="1"/>
          <p:nvPr/>
        </p:nvSpPr>
        <p:spPr>
          <a:xfrm>
            <a:off x="1531620" y="3104388"/>
            <a:ext cx="6080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dibujar()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 flipH="1">
            <a:off x="5600700" y="3666744"/>
            <a:ext cx="2057400" cy="0"/>
          </a:xfrm>
          <a:prstGeom prst="line">
            <a:avLst/>
          </a:prstGeom>
          <a:noFill/>
          <a:ln w="13970">
            <a:solidFill>
              <a:srgbClr val="3A3F4B"/>
            </a:solidFill>
            <a:prstDash val="solid"/>
            <a:tailEnd type="arrow"/>
          </a:ln>
        </p:spPr>
      </p:sp>
      <p:sp>
        <p:nvSpPr>
          <p:cNvPr id="47" name="Text 45"/>
          <p:cNvSpPr txBox="1"/>
          <p:nvPr/>
        </p:nvSpPr>
        <p:spPr>
          <a:xfrm>
            <a:off x="5646420" y="345186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dibujar(placa, lat, lon)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600700" y="4014216"/>
            <a:ext cx="2057400" cy="0"/>
          </a:xfrm>
          <a:prstGeom prst="line">
            <a:avLst/>
          </a:prstGeom>
          <a:noFill/>
          <a:ln w="13970">
            <a:solidFill>
              <a:srgbClr val="5B6577"/>
            </a:solidFill>
            <a:prstDash val="dash"/>
            <a:tailEnd type="arrow"/>
          </a:ln>
        </p:spPr>
      </p:sp>
      <p:sp>
        <p:nvSpPr>
          <p:cNvPr id="49" name="Text 47"/>
          <p:cNvSpPr txBox="1"/>
          <p:nvPr/>
        </p:nvSpPr>
        <p:spPr>
          <a:xfrm>
            <a:off x="5646420" y="3799332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texto del bus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 flipH="1">
            <a:off x="1485900" y="4361688"/>
            <a:ext cx="6172200" cy="0"/>
          </a:xfrm>
          <a:prstGeom prst="line">
            <a:avLst/>
          </a:prstGeom>
          <a:noFill/>
          <a:ln w="13970">
            <a:solidFill>
              <a:srgbClr val="5B6577"/>
            </a:solidFill>
            <a:prstDash val="dash"/>
            <a:tailEnd type="arrow"/>
          </a:ln>
        </p:spPr>
      </p:sp>
      <p:sp>
        <p:nvSpPr>
          <p:cNvPr id="51" name="Text 49"/>
          <p:cNvSpPr txBox="1"/>
          <p:nvPr/>
        </p:nvSpPr>
        <p:spPr>
          <a:xfrm>
            <a:off x="1531620" y="4146804"/>
            <a:ext cx="6080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texto del bus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3291840"/>
            <a:ext cx="3840480" cy="292608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188720"/>
            <a:ext cx="2377440" cy="182880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146304"/>
            <a:ext cx="822960" cy="109728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256032"/>
            <a:ext cx="548640" cy="0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24344" y="64008"/>
            <a:ext cx="164592" cy="164592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65492" y="105156"/>
            <a:ext cx="82296" cy="82296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65592" y="192024"/>
            <a:ext cx="128016" cy="12801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9AD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97596" y="224028"/>
            <a:ext cx="64008" cy="64008"/>
          </a:xfrm>
          <a:prstGeom prst="ellipse">
            <a:avLst/>
          </a:prstGeom>
          <a:solidFill>
            <a:srgbClr val="9AD0F5"/>
          </a:solidFill>
          <a:ln w="12700">
            <a:solidFill>
              <a:srgbClr val="9AD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68512" y="146304"/>
            <a:ext cx="219456" cy="21945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23376" y="201168"/>
            <a:ext cx="109728" cy="109728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743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Flyweight: código (1/2)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157216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57216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Análisis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53328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53328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Diseño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0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49440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Código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845552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45552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Pruebas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3 · Patrones de Diseño 2026-2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080760" y="914400"/>
            <a:ext cx="2606040" cy="37947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99632" y="9875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por línea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199632" y="1261872"/>
            <a:ext cx="239572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/>
              </a:rPr>
              <a:t xml:space="preserve">TipoBus L20-24  </a:t>
            </a:r>
            <a:r>
              <a:rPr lang="en-US" sz="900" dirty="0">
                <a:solidFill>
                  <a:srgbClr val="1B2333"/>
                </a:solidFill>
                <a:latin typeface="Calibri"/>
              </a:rPr>
              <a:t xml:space="preserve">dibujar() usa Locale.US: el punto decimal sale igual sin importar el computador.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/>
              </a:rPr>
              <a:t xml:space="preserve">TipoBus L27-29  </a:t>
            </a:r>
            <a:r>
              <a:rPr lang="en-US" sz="900" dirty="0">
                <a:solidFill>
                  <a:srgbClr val="1B2333"/>
                </a:solidFill>
                <a:latin typeface="Calibri"/>
              </a:rPr>
              <a:t xml:space="preserve">clave() static: se calcula sin tener un TipoBus creado — lo que necesita la fábrica.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/>
              </a:rPr>
              <a:t xml:space="preserve">TipoBus L31-33  </a:t>
            </a:r>
            <a:r>
              <a:rPr lang="en-US" sz="900" dirty="0">
                <a:solidFill>
                  <a:srgbClr val="1B2333"/>
                </a:solidFill>
                <a:latin typeface="Calibri"/>
              </a:rPr>
              <a:t xml:space="preserve">Versión de instancia de clave(): delega en la static, sin repetir la fórmula.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/>
              </a:rPr>
              <a:t xml:space="preserve">TipoBusFactory L6  </a:t>
            </a:r>
            <a:r>
              <a:rPr lang="en-US" sz="900" dirty="0">
                <a:solidFill>
                  <a:srgbClr val="1B2333"/>
                </a:solidFill>
                <a:latin typeface="Calibri"/>
              </a:rPr>
              <a:t xml:space="preserve">Caché de flyweights: clave → TipoBus ya creado.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/>
              </a:rPr>
              <a:t xml:space="preserve">TipoBusFactory L8-9  </a:t>
            </a:r>
            <a:r>
              <a:rPr lang="en-US" sz="900" dirty="0">
                <a:solidFill>
                  <a:srgbClr val="1B2333"/>
                </a:solidFill>
                <a:latin typeface="Calibri"/>
              </a:rPr>
              <a:t xml:space="preserve">Punto único para pedir un TipoBus.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/>
              </a:rPr>
              <a:t xml:space="preserve">TipoBusFactory L10  </a:t>
            </a:r>
            <a:r>
              <a:rPr lang="en-US" sz="900" dirty="0">
                <a:solidFill>
                  <a:srgbClr val="1B2333"/>
                </a:solidFill>
                <a:latin typeface="Calibri"/>
              </a:rPr>
              <a:t xml:space="preserve">Usa TipoBus.clave(...): la fórmula de identidad vive en un solo lugar.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/>
              </a:rPr>
              <a:t xml:space="preserve">TipoBusFactory L11-12  </a:t>
            </a:r>
            <a:r>
              <a:rPr lang="en-US" sz="900" dirty="0">
                <a:solidFill>
                  <a:srgbClr val="1B2333"/>
                </a:solidFill>
                <a:latin typeface="Calibri"/>
              </a:rPr>
              <a:t xml:space="preserve">Si la clave existe devuelve la misma instancia; si no, la crea y la guarda.</a:t>
            </a:r>
            <a:endParaRPr lang="en-US" sz="900" dirty="0"/>
          </a:p>
        </p:txBody>
      </p:sp>
      <p:pic>
        <p:nvPicPr>
          <p:cNvPr id="32" name="Picture 31" descr="Flyweight  TipoBus java DIA 2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3732" y="914400"/>
            <a:ext cx="4073336" cy="2034540"/>
          </a:xfrm>
          <a:prstGeom prst="rect">
            <a:avLst/>
          </a:prstGeom>
        </p:spPr>
      </p:pic>
      <p:pic>
        <p:nvPicPr>
          <p:cNvPr id="33" name="Picture 32" descr="Flyweight  TipoBusFactory java DIA 22 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5079" y="3040380"/>
            <a:ext cx="2990641" cy="1626489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3291840"/>
            <a:ext cx="3840480" cy="292608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188720"/>
            <a:ext cx="2377440" cy="182880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146304"/>
            <a:ext cx="822960" cy="109728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256032"/>
            <a:ext cx="548640" cy="0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24344" y="64008"/>
            <a:ext cx="164592" cy="164592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65492" y="105156"/>
            <a:ext cx="82296" cy="82296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65592" y="192024"/>
            <a:ext cx="128016" cy="12801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9AD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97596" y="224028"/>
            <a:ext cx="64008" cy="64008"/>
          </a:xfrm>
          <a:prstGeom prst="ellipse">
            <a:avLst/>
          </a:prstGeom>
          <a:solidFill>
            <a:srgbClr val="9AD0F5"/>
          </a:solidFill>
          <a:ln w="12700">
            <a:solidFill>
              <a:srgbClr val="9AD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68512" y="146304"/>
            <a:ext cx="219456" cy="21945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23376" y="201168"/>
            <a:ext cx="109728" cy="109728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743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Flyweight: código (2/2)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157216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57216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Análisis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53328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53328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Diseño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0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49440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Código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845552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45552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Pruebas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3 · Patrones de Diseño 2026-2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080760" y="914400"/>
            <a:ext cx="2606040" cy="37947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99632" y="9875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por línea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199632" y="1261872"/>
            <a:ext cx="239572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BusEnRuta L5 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Contexto: un objeto por cada bus real (hay 5.000).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BusEnRuta L6-8 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extrínseco: placa y posición, distintos en cada bus.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BusEnRuta L9 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 al flyweight: no copia los datos, los comparte.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BusEnRuta L11-17 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constructor recibe el TipoBus ya creado.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L53 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los 5.000 buses.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L57-58 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Pide el modelo a la fábrica: siempre el mismo objeto por modelo.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L59-60 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Posición propia de cada bus (estado extrínseco).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L61 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el bus con su placa y posición y el TipoBus compartido.</a:t>
            </a:r>
            <a:endParaRPr lang="en-US" sz="850" dirty="0"/>
          </a:p>
        </p:txBody>
      </p:sp>
      <p:pic>
        <p:nvPicPr>
          <p:cNvPr id="32" name="Picture 31" descr="Flyweight   BusEnRutajava DIA 23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9680" y="914400"/>
            <a:ext cx="2381439" cy="1974088"/>
          </a:xfrm>
          <a:prstGeom prst="rect">
            <a:avLst/>
          </a:prstGeom>
        </p:spPr>
      </p:pic>
      <p:pic>
        <p:nvPicPr>
          <p:cNvPr id="33" name="Picture 32" descr="Flyweight   Mainjava DIA 23 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3091" y="2979928"/>
            <a:ext cx="3914617" cy="161137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3291840"/>
            <a:ext cx="3840480" cy="292608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188720"/>
            <a:ext cx="2377440" cy="182880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146304"/>
            <a:ext cx="822960" cy="109728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256032"/>
            <a:ext cx="548640" cy="0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24344" y="64008"/>
            <a:ext cx="164592" cy="164592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65492" y="105156"/>
            <a:ext cx="82296" cy="82296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65592" y="192024"/>
            <a:ext cx="128016" cy="12801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9AD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97596" y="224028"/>
            <a:ext cx="64008" cy="64008"/>
          </a:xfrm>
          <a:prstGeom prst="ellipse">
            <a:avLst/>
          </a:prstGeom>
          <a:solidFill>
            <a:srgbClr val="9AD0F5"/>
          </a:solidFill>
          <a:ln w="12700">
            <a:solidFill>
              <a:srgbClr val="9AD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68512" y="146304"/>
            <a:ext cx="219456" cy="21945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23376" y="201168"/>
            <a:ext cx="109728" cy="109728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743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Flyweight: pruebas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157216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57216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Análisis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53328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53328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Diseño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0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49440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Código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845552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45552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Pruebas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3 · Patrones de Diseño 2026-2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75788"/>
            <a:ext cx="48006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85800" y="305866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8E5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≈ 99 %</a:t>
            </a:r>
            <a:endParaRPr lang="en-US" sz="4000" dirty="0"/>
          </a:p>
        </p:txBody>
      </p:sp>
      <p:sp>
        <p:nvSpPr>
          <p:cNvPr id="28" name="Text 26"/>
          <p:cNvSpPr txBox="1"/>
          <p:nvPr/>
        </p:nvSpPr>
        <p:spPr>
          <a:xfrm>
            <a:off x="2743200" y="3058668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memoria al compartir 3 objetos TipoBus entre 5.000 buses (medición aproximada; varía según la JVM).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0" y="914400"/>
            <a:ext cx="32004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5623560" y="9875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comprobamos?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623560" y="1261872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5.000 buses usan solo 3 objetos TipoBus.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aproximada: 99 MB sin Flyweight contra 567 KB con Flyweight.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bus conserva su placa y su posición propias.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86400" y="2651760"/>
            <a:ext cx="3200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596128" y="2724912"/>
            <a:ext cx="256032" cy="256032"/>
          </a:xfrm>
          <a:prstGeom prst="ellipse">
            <a:avLst/>
          </a:prstGeom>
          <a:solidFill>
            <a:srgbClr val="1E8E5A"/>
          </a:solidFill>
          <a:ln w="12700">
            <a:solidFill>
              <a:srgbClr val="1E8E5A"/>
            </a:solidFill>
            <a:prstDash val="solid"/>
          </a:ln>
        </p:spPr>
      </p:sp>
      <p:pic>
        <p:nvPicPr>
          <p:cNvPr id="3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57576" y="2786360"/>
            <a:ext cx="133137" cy="133137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5925312" y="272491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Ventajas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623560" y="301752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Ahorra mucha memoria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recurso pesado se crea una vez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5486400" y="3749040"/>
            <a:ext cx="32004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5596128" y="3822192"/>
            <a:ext cx="256032" cy="25603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76" y="3883640"/>
            <a:ext cx="133137" cy="133137"/>
          </a:xfrm>
          <a:prstGeom prst="rect">
            <a:avLst/>
          </a:prstGeom>
        </p:spPr>
      </p:pic>
      <p:sp>
        <p:nvSpPr>
          <p:cNvPr id="40" name="Text 36"/>
          <p:cNvSpPr txBox="1"/>
          <p:nvPr/>
        </p:nvSpPr>
        <p:spPr>
          <a:xfrm>
            <a:off x="5925312" y="38221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Desventajas</a:t>
            </a:r>
            <a:endParaRPr lang="en-US" sz="1100" dirty="0"/>
          </a:p>
        </p:txBody>
      </p:sp>
      <p:sp>
        <p:nvSpPr>
          <p:cNvPr id="41" name="Text 37"/>
          <p:cNvSpPr txBox="1"/>
          <p:nvPr/>
        </p:nvSpPr>
        <p:spPr>
          <a:xfrm>
            <a:off x="5623560" y="409651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CPU y más complejidad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estado compartido debe ser inmutable</a:t>
            </a:r>
            <a:endParaRPr lang="en-US" sz="950" dirty="0"/>
          </a:p>
        </p:txBody>
      </p:sp>
      <p:pic>
        <p:nvPicPr>
          <p:cNvPr id="42" name="Picture 41" descr="FLYWEIGHT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690" y="914400"/>
            <a:ext cx="4677620" cy="177850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0" y="274320"/>
            <a:ext cx="4754880" cy="4389120"/>
          </a:xfrm>
          <a:prstGeom prst="ellipse">
            <a:avLst/>
          </a:prstGeom>
          <a:solidFill>
            <a:srgbClr val="E4F2FC"/>
          </a:solidFill>
          <a:ln w="12700">
            <a:solidFill>
              <a:srgbClr val="E4F2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3566160"/>
            <a:ext cx="2926080" cy="219456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457200"/>
            <a:ext cx="822960" cy="109728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0" y="566928"/>
            <a:ext cx="548640" cy="0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141464" y="374904"/>
            <a:ext cx="164592" cy="164592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82612" y="416052"/>
            <a:ext cx="82296" cy="82296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982712" y="502920"/>
            <a:ext cx="128016" cy="12801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9AD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14716" y="534924"/>
            <a:ext cx="64008" cy="64008"/>
          </a:xfrm>
          <a:prstGeom prst="ellipse">
            <a:avLst/>
          </a:prstGeom>
          <a:solidFill>
            <a:srgbClr val="9AD0F5"/>
          </a:solidFill>
          <a:ln w="12700">
            <a:solidFill>
              <a:srgbClr val="9AD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85632" y="457200"/>
            <a:ext cx="219456" cy="21945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40496" y="512064"/>
            <a:ext cx="109728" cy="109728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548640"/>
            <a:ext cx="822960" cy="822960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150" y="746150"/>
            <a:ext cx="427939" cy="427939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600200" y="5486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Proxy</a:t>
            </a:r>
            <a:endParaRPr lang="en-US" sz="48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1508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 ESTRUCTURAL  ·  también llamado Sustituto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192024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Proporciona un sustituto o intermediario de otro objeto para controlar el acceso a él, actuando antes o después de que la petición llegue al objeto real.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548640" y="3429000"/>
            <a:ext cx="8046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77240" y="35478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Analogía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379476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un cheque bancario: representa el dinero de tu cuenta. Quien lo recibe no toca tu cuenta; el banco valida y controla el acceso.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3291840"/>
            <a:ext cx="3840480" cy="292608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188720"/>
            <a:ext cx="2377440" cy="182880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146304"/>
            <a:ext cx="822960" cy="109728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256032"/>
            <a:ext cx="548640" cy="0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24344" y="64008"/>
            <a:ext cx="164592" cy="164592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65492" y="105156"/>
            <a:ext cx="82296" cy="82296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65592" y="192024"/>
            <a:ext cx="128016" cy="12801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9AD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97596" y="224028"/>
            <a:ext cx="64008" cy="64008"/>
          </a:xfrm>
          <a:prstGeom prst="ellipse">
            <a:avLst/>
          </a:prstGeom>
          <a:solidFill>
            <a:srgbClr val="9AD0F5"/>
          </a:solidFill>
          <a:ln w="12700">
            <a:solidFill>
              <a:srgbClr val="9AD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68512" y="146304"/>
            <a:ext cx="219456" cy="21945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23376" y="201168"/>
            <a:ext cx="109728" cy="109728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743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Proxy: análisis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157216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57216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Análisis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53328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53328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Diseño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0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49440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Código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845552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45552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Pruebas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3 · Patrones de Diseño 2026-2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960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Situación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1234440"/>
            <a:ext cx="3931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reportes gerenciales viven en una base de datos lenta y confidencial. Hay que impedir que cualquiera los consulte, no abrir la conexión hasta que haga falta y no repetir consultas idénticas.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2514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2788920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RF1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Consultar un reporte por su identificador.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RF2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los roles GERENTE y AUDITOR pueden consultarlo.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RNF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abrir la base de datos hasta que se necesite y no repetir consultas iguales.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2245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Úsalo cuando: necesitas crear un objeto costoso al último momento, controlar quién accede o guardar resultados.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663440" y="960120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846320" y="1463040"/>
            <a:ext cx="960120" cy="640080"/>
          </a:xfrm>
          <a:prstGeom prst="roundRect">
            <a:avLst>
              <a:gd name="adj" fmla="val 8571"/>
            </a:avLst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46320" y="1463040"/>
            <a:ext cx="960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63640" y="1463040"/>
            <a:ext cx="960120" cy="640080"/>
          </a:xfrm>
          <a:prstGeom prst="roundRect">
            <a:avLst>
              <a:gd name="adj" fmla="val 8571"/>
            </a:avLst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63640" y="1463040"/>
            <a:ext cx="960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680960" y="1463040"/>
            <a:ext cx="868680" cy="640080"/>
          </a:xfrm>
          <a:prstGeom prst="roundRect">
            <a:avLst>
              <a:gd name="adj" fmla="val 8571"/>
            </a:avLst>
          </a:prstGeom>
          <a:solidFill>
            <a:srgbClr val="3AA876"/>
          </a:solidFill>
          <a:ln w="12700">
            <a:solidFill>
              <a:srgbClr val="3AA87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680960" y="146304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Objeto real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806440" y="1783080"/>
            <a:ext cx="457200" cy="0"/>
          </a:xfrm>
          <a:prstGeom prst="line">
            <a:avLst/>
          </a:prstGeom>
          <a:noFill/>
          <a:ln w="15875">
            <a:solidFill>
              <a:srgbClr val="3A3F4B"/>
            </a:solidFill>
            <a:prstDash val="solid"/>
            <a:tailEnd type="arrow"/>
          </a:ln>
        </p:spPr>
      </p:sp>
      <p:sp>
        <p:nvSpPr>
          <p:cNvPr id="36" name="Shape 34"/>
          <p:cNvSpPr/>
          <p:nvPr/>
        </p:nvSpPr>
        <p:spPr>
          <a:xfrm>
            <a:off x="7223760" y="1783080"/>
            <a:ext cx="457200" cy="0"/>
          </a:xfrm>
          <a:prstGeom prst="line">
            <a:avLst/>
          </a:prstGeom>
          <a:noFill/>
          <a:ln w="15875">
            <a:solidFill>
              <a:srgbClr val="3A3F4B"/>
            </a:solidFill>
            <a:prstDash val="solid"/>
            <a:tailEnd type="arrow"/>
          </a:ln>
        </p:spPr>
      </p:sp>
      <p:sp>
        <p:nvSpPr>
          <p:cNvPr id="37" name="Text 35"/>
          <p:cNvSpPr txBox="1"/>
          <p:nvPr/>
        </p:nvSpPr>
        <p:spPr>
          <a:xfrm>
            <a:off x="4846320" y="2240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interfaz: el cliente no nota la diferencia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4846320" y="26974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roles del mismo proxy en nuestro ejemplo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846320" y="306324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846320" y="3063240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Protección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5943600" y="30632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GERENTE y AUDITOR acceden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4846320" y="353872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16325C"/>
          </a:solidFill>
          <a:ln w="12700">
            <a:solidFill>
              <a:srgbClr val="1632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846320" y="353872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5943600" y="353872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la BD recién en la 1ª consulta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4846320" y="401421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1E8E5A"/>
          </a:solidFill>
          <a:ln w="12700">
            <a:solidFill>
              <a:srgbClr val="1E8E5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846320" y="401421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Caché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5943600" y="401421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Repite la consulta en ~0 ms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3291840"/>
            <a:ext cx="3840480" cy="292608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188720"/>
            <a:ext cx="2377440" cy="182880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146304"/>
            <a:ext cx="822960" cy="109728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256032"/>
            <a:ext cx="548640" cy="0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24344" y="64008"/>
            <a:ext cx="164592" cy="164592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65492" y="105156"/>
            <a:ext cx="82296" cy="82296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65592" y="192024"/>
            <a:ext cx="128016" cy="12801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9AD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97596" y="224028"/>
            <a:ext cx="64008" cy="64008"/>
          </a:xfrm>
          <a:prstGeom prst="ellipse">
            <a:avLst/>
          </a:prstGeom>
          <a:solidFill>
            <a:srgbClr val="9AD0F5"/>
          </a:solidFill>
          <a:ln w="12700">
            <a:solidFill>
              <a:srgbClr val="9AD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68512" y="146304"/>
            <a:ext cx="219456" cy="21945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23376" y="201168"/>
            <a:ext cx="109728" cy="109728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743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Proxy: diagrama de clases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157216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57216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Análisis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53328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53328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Diseño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0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49440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Código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845552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45552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Pruebas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3 · Patrones de Diseño 2026-2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960120"/>
            <a:ext cx="1737360" cy="722376"/>
          </a:xfrm>
          <a:prstGeom prst="rect">
            <a:avLst/>
          </a:prstGeom>
          <a:solidFill>
            <a:srgbClr val="FFFFFF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960120"/>
            <a:ext cx="1737360" cy="457200"/>
          </a:xfrm>
          <a:prstGeom prst="rect">
            <a:avLst/>
          </a:prstGeom>
          <a:solidFill>
            <a:srgbClr val="5BB4F0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9601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«control»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30352" y="1463040"/>
            <a:ext cx="162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(cliente)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017520" y="960120"/>
            <a:ext cx="3291840" cy="722376"/>
          </a:xfrm>
          <a:prstGeom prst="rect">
            <a:avLst/>
          </a:prstGeom>
          <a:solidFill>
            <a:srgbClr val="FFFFFF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17520" y="960120"/>
            <a:ext cx="3291840" cy="457200"/>
          </a:xfrm>
          <a:prstGeom prst="rect">
            <a:avLst/>
          </a:prstGeom>
          <a:solidFill>
            <a:srgbClr val="3A3F4B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017520" y="9601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«interface»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RepositorioReportes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3090672" y="1463040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obtenerReporte(id): String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57200" y="3063240"/>
            <a:ext cx="274320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" y="3063240"/>
            <a:ext cx="2743200" cy="292608"/>
          </a:xfrm>
          <a:prstGeom prst="rect">
            <a:avLst/>
          </a:prstGeom>
          <a:solidFill>
            <a:srgbClr val="3A3F4B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7200" y="30632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RepositorioReportesReal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530352" y="3401568"/>
            <a:ext cx="26334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obtenerReporte(id)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(consulta lenta a la BD)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023360" y="2880360"/>
            <a:ext cx="2468880" cy="1078992"/>
          </a:xfrm>
          <a:prstGeom prst="rect">
            <a:avLst/>
          </a:prstGeom>
          <a:solidFill>
            <a:srgbClr val="FFFFFF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023360" y="2880360"/>
            <a:ext cx="2468880" cy="292608"/>
          </a:xfrm>
          <a:prstGeom prst="rect">
            <a:avLst/>
          </a:prstGeom>
          <a:solidFill>
            <a:srgbClr val="3A3F4B"/>
          </a:solidFill>
          <a:ln w="15875">
            <a:solidFill>
              <a:srgbClr val="3A3F4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023360" y="28803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ProxyReportes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4096512" y="3218688"/>
            <a:ext cx="235915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usuario, rol: String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real: ...Real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cache: Map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obtenerReporte(id)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2194560" y="1325880"/>
            <a:ext cx="822960" cy="137160"/>
          </a:xfrm>
          <a:prstGeom prst="line">
            <a:avLst/>
          </a:prstGeom>
          <a:noFill/>
          <a:ln w="15875">
            <a:solidFill>
              <a:srgbClr val="3A3F4B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1828800" y="1682496"/>
            <a:ext cx="1737360" cy="1380744"/>
          </a:xfrm>
          <a:prstGeom prst="line">
            <a:avLst/>
          </a:prstGeom>
          <a:noFill/>
          <a:ln w="15875">
            <a:solidFill>
              <a:srgbClr val="3A3F4B"/>
            </a:solidFill>
            <a:prstDash val="dash"/>
            <a:tailEnd type="triangle"/>
          </a:ln>
        </p:spPr>
      </p:sp>
      <p:sp>
        <p:nvSpPr>
          <p:cNvPr id="41" name="Shape 39"/>
          <p:cNvSpPr/>
          <p:nvPr/>
        </p:nvSpPr>
        <p:spPr>
          <a:xfrm flipV="1">
            <a:off x="5257800" y="1682496"/>
            <a:ext cx="502920" cy="1197864"/>
          </a:xfrm>
          <a:prstGeom prst="line">
            <a:avLst/>
          </a:prstGeom>
          <a:noFill/>
          <a:ln w="15875">
            <a:solidFill>
              <a:srgbClr val="3A3F4B"/>
            </a:solidFill>
            <a:prstDash val="dash"/>
            <a:tailEnd type="triangle"/>
          </a:ln>
        </p:spPr>
      </p:sp>
      <p:sp>
        <p:nvSpPr>
          <p:cNvPr id="42" name="Shape 40"/>
          <p:cNvSpPr/>
          <p:nvPr/>
        </p:nvSpPr>
        <p:spPr>
          <a:xfrm flipH="1">
            <a:off x="3200400" y="3657600"/>
            <a:ext cx="822960" cy="182880"/>
          </a:xfrm>
          <a:prstGeom prst="line">
            <a:avLst/>
          </a:prstGeom>
          <a:noFill/>
          <a:ln w="15875">
            <a:solidFill>
              <a:srgbClr val="3A3F4B"/>
            </a:solidFill>
            <a:prstDash val="solid"/>
            <a:tailEnd type="arrow"/>
          </a:ln>
        </p:spPr>
      </p:sp>
      <p:sp>
        <p:nvSpPr>
          <p:cNvPr id="43" name="Text 41"/>
          <p:cNvSpPr txBox="1"/>
          <p:nvPr/>
        </p:nvSpPr>
        <p:spPr>
          <a:xfrm>
            <a:off x="3246120" y="336499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 en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6766560" y="2194560"/>
            <a:ext cx="1920240" cy="2084832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6903720" y="22860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Participantes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903720" y="257860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6903720" y="277063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RepositorioReportes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6903720" y="314553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RealSubject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6903720" y="333756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RepositorioReportesReal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6903720" y="37124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903720" y="390448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ProxyReportes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457200" y="4553712"/>
            <a:ext cx="182880" cy="128016"/>
          </a:xfrm>
          <a:prstGeom prst="rect">
            <a:avLst/>
          </a:prstGeom>
          <a:solidFill>
            <a:srgbClr val="5BB4F0"/>
          </a:solidFill>
          <a:ln w="9525">
            <a:solidFill>
              <a:srgbClr val="3A3F4B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13232" y="451713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 de control (coordina el flujo)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00400" y="4553712"/>
            <a:ext cx="182880" cy="128016"/>
          </a:xfrm>
          <a:prstGeom prst="rect">
            <a:avLst/>
          </a:prstGeom>
          <a:solidFill>
            <a:srgbClr val="3A3F4B"/>
          </a:solidFill>
          <a:ln w="9525">
            <a:solidFill>
              <a:srgbClr val="3A3F4B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3456432" y="451713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 del patrón / dominio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3291840"/>
            <a:ext cx="3840480" cy="292608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188720"/>
            <a:ext cx="2377440" cy="182880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146304"/>
            <a:ext cx="822960" cy="109728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256032"/>
            <a:ext cx="548640" cy="0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24344" y="64008"/>
            <a:ext cx="164592" cy="164592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65492" y="105156"/>
            <a:ext cx="82296" cy="82296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65592" y="192024"/>
            <a:ext cx="128016" cy="12801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9AD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97596" y="224028"/>
            <a:ext cx="64008" cy="64008"/>
          </a:xfrm>
          <a:prstGeom prst="ellipse">
            <a:avLst/>
          </a:prstGeom>
          <a:solidFill>
            <a:srgbClr val="9AD0F5"/>
          </a:solidFill>
          <a:ln w="12700">
            <a:solidFill>
              <a:srgbClr val="9AD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68512" y="146304"/>
            <a:ext cx="219456" cy="21945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23376" y="201168"/>
            <a:ext cx="109728" cy="109728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743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Proxy: secuencia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157216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57216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Análisis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53328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53328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Diseño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0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49440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Código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845552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45552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Pruebas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3 · Patrones de Diseño 2026-2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8412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para consultar un reporte: el proxy decide; solo la primera vez llega al objeto real (la segunda responde el caché).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120140" y="1143000"/>
            <a:ext cx="1417320" cy="420624"/>
          </a:xfrm>
          <a:prstGeom prst="rect">
            <a:avLst/>
          </a:prstGeom>
          <a:solidFill>
            <a:srgbClr val="5BB4F0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20140" y="114300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1828800" y="1563624"/>
            <a:ext cx="0" cy="3099816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3863340" y="1143000"/>
            <a:ext cx="1417320" cy="42062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863340" y="114300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ProxyReportes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0" y="1563624"/>
            <a:ext cx="0" cy="3099816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606540" y="1143000"/>
            <a:ext cx="1417320" cy="42062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606540" y="114300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RepositorioReportesReal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7315200" y="1563624"/>
            <a:ext cx="0" cy="3099816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1828800" y="1929384"/>
            <a:ext cx="2743200" cy="0"/>
          </a:xfrm>
          <a:prstGeom prst="line">
            <a:avLst/>
          </a:prstGeom>
          <a:noFill/>
          <a:ln w="13970">
            <a:solidFill>
              <a:srgbClr val="3A3F4B"/>
            </a:solidFill>
            <a:prstDash val="solid"/>
            <a:tailEnd type="arrow"/>
          </a:ln>
        </p:spPr>
      </p:sp>
      <p:sp>
        <p:nvSpPr>
          <p:cNvPr id="34" name="Text 32"/>
          <p:cNvSpPr txBox="1"/>
          <p:nvPr/>
        </p:nvSpPr>
        <p:spPr>
          <a:xfrm>
            <a:off x="1874520" y="171450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obtenerReporte(REP-2026-09)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626864" y="2157984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E6F2FB"/>
          </a:solidFill>
          <a:ln w="9525">
            <a:solidFill>
              <a:srgbClr val="5BB4F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663440" y="2157984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rol GERENTE: permitido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572000" y="2624328"/>
            <a:ext cx="2743200" cy="0"/>
          </a:xfrm>
          <a:prstGeom prst="line">
            <a:avLst/>
          </a:prstGeom>
          <a:noFill/>
          <a:ln w="13970">
            <a:solidFill>
              <a:srgbClr val="3A3F4B"/>
            </a:solidFill>
            <a:prstDash val="solid"/>
            <a:tailEnd type="arrow"/>
          </a:ln>
        </p:spPr>
      </p:sp>
      <p:sp>
        <p:nvSpPr>
          <p:cNvPr id="38" name="Text 36"/>
          <p:cNvSpPr txBox="1"/>
          <p:nvPr/>
        </p:nvSpPr>
        <p:spPr>
          <a:xfrm>
            <a:off x="4617720" y="24094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new (1ª vez, ~0,8 s)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572000" y="2971800"/>
            <a:ext cx="2743200" cy="0"/>
          </a:xfrm>
          <a:prstGeom prst="line">
            <a:avLst/>
          </a:prstGeom>
          <a:noFill/>
          <a:ln w="13970">
            <a:solidFill>
              <a:srgbClr val="3A3F4B"/>
            </a:solidFill>
            <a:prstDash val="solid"/>
            <a:tailEnd type="arrow"/>
          </a:ln>
        </p:spPr>
      </p:sp>
      <p:sp>
        <p:nvSpPr>
          <p:cNvPr id="40" name="Text 38"/>
          <p:cNvSpPr txBox="1"/>
          <p:nvPr/>
        </p:nvSpPr>
        <p:spPr>
          <a:xfrm>
            <a:off x="4617720" y="2756916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obtenerReporte(id)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 flipH="1">
            <a:off x="4572000" y="3319272"/>
            <a:ext cx="2743200" cy="0"/>
          </a:xfrm>
          <a:prstGeom prst="line">
            <a:avLst/>
          </a:prstGeom>
          <a:noFill/>
          <a:ln w="13970">
            <a:solidFill>
              <a:srgbClr val="5B6577"/>
            </a:solidFill>
            <a:prstDash val="dash"/>
            <a:tailEnd type="arrow"/>
          </a:ln>
        </p:spPr>
      </p:sp>
      <p:sp>
        <p:nvSpPr>
          <p:cNvPr id="42" name="Text 40"/>
          <p:cNvSpPr txBox="1"/>
          <p:nvPr/>
        </p:nvSpPr>
        <p:spPr>
          <a:xfrm>
            <a:off x="4617720" y="310438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contenido (~1 s)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 flipH="1">
            <a:off x="1828800" y="3666744"/>
            <a:ext cx="2743200" cy="0"/>
          </a:xfrm>
          <a:prstGeom prst="line">
            <a:avLst/>
          </a:prstGeom>
          <a:noFill/>
          <a:ln w="13970">
            <a:solidFill>
              <a:srgbClr val="5B6577"/>
            </a:solidFill>
            <a:prstDash val="dash"/>
            <a:tailEnd type="arrow"/>
          </a:ln>
        </p:spPr>
      </p:sp>
      <p:sp>
        <p:nvSpPr>
          <p:cNvPr id="44" name="Text 42"/>
          <p:cNvSpPr txBox="1"/>
          <p:nvPr/>
        </p:nvSpPr>
        <p:spPr>
          <a:xfrm>
            <a:off x="1874520" y="34518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contenido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28800" y="4014216"/>
            <a:ext cx="2743200" cy="0"/>
          </a:xfrm>
          <a:prstGeom prst="line">
            <a:avLst/>
          </a:prstGeom>
          <a:noFill/>
          <a:ln w="13970">
            <a:solidFill>
              <a:srgbClr val="3A3F4B"/>
            </a:solidFill>
            <a:prstDash val="solid"/>
            <a:tailEnd type="arrow"/>
          </a:ln>
        </p:spPr>
      </p:sp>
      <p:sp>
        <p:nvSpPr>
          <p:cNvPr id="46" name="Text 44"/>
          <p:cNvSpPr txBox="1"/>
          <p:nvPr/>
        </p:nvSpPr>
        <p:spPr>
          <a:xfrm>
            <a:off x="1874520" y="379933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obtenerReporte(REP-2026-09)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 flipH="1">
            <a:off x="1828800" y="4361688"/>
            <a:ext cx="2743200" cy="0"/>
          </a:xfrm>
          <a:prstGeom prst="line">
            <a:avLst/>
          </a:prstGeom>
          <a:noFill/>
          <a:ln w="13970">
            <a:solidFill>
              <a:srgbClr val="5B6577"/>
            </a:solidFill>
            <a:prstDash val="dash"/>
            <a:tailEnd type="arrow"/>
          </a:ln>
        </p:spPr>
      </p:sp>
      <p:sp>
        <p:nvSpPr>
          <p:cNvPr id="48" name="Text 46"/>
          <p:cNvSpPr txBox="1"/>
          <p:nvPr/>
        </p:nvSpPr>
        <p:spPr>
          <a:xfrm>
            <a:off x="1874520" y="414680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desde caché (~0 ms)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3291840"/>
            <a:ext cx="3840480" cy="292608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188720"/>
            <a:ext cx="2377440" cy="182880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146304"/>
            <a:ext cx="822960" cy="109728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256032"/>
            <a:ext cx="548640" cy="0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24344" y="64008"/>
            <a:ext cx="164592" cy="164592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65492" y="105156"/>
            <a:ext cx="82296" cy="82296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65592" y="192024"/>
            <a:ext cx="128016" cy="12801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9AD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97596" y="224028"/>
            <a:ext cx="64008" cy="64008"/>
          </a:xfrm>
          <a:prstGeom prst="ellipse">
            <a:avLst/>
          </a:prstGeom>
          <a:solidFill>
            <a:srgbClr val="9AD0F5"/>
          </a:solidFill>
          <a:ln w="12700">
            <a:solidFill>
              <a:srgbClr val="9AD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68512" y="146304"/>
            <a:ext cx="219456" cy="21945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23376" y="201168"/>
            <a:ext cx="109728" cy="109728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743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Proxy: código (1/3)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157216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57216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Análisis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53328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53328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Diseño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0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49440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Código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845552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45552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Pruebas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3 · Patrones de Diseño 2026-2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080760" y="914400"/>
            <a:ext cx="2606040" cy="37947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99632" y="9875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por línea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199632" y="1261872"/>
            <a:ext cx="239572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RepositorioReportes L2  </a:t>
            </a:r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común del objeto real y del proxy: el cliente solo conoce esta interfaz.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RepositorioReportes L3  </a:t>
            </a:r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operación: pedir un reporte por su id.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RepositorioReportesReal L2  </a:t>
            </a:r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Sujeto real: hace el trabajo caro.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RepositorioReportesReal L3-7  </a:t>
            </a:r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Crearlo es costoso: simula abrir la conexión (0,8 s).</a:t>
            </a:r>
            <a:endParaRPr lang="en-US" sz="900" dirty="0"/>
          </a:p>
        </p:txBody>
      </p:sp>
      <p:pic>
        <p:nvPicPr>
          <p:cNvPr id="32" name="Picture 31" descr="Proxy RepositorioReportes java DIA 29 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623" y="914400"/>
            <a:ext cx="3345554" cy="810387"/>
          </a:xfrm>
          <a:prstGeom prst="rect">
            <a:avLst/>
          </a:prstGeom>
        </p:spPr>
      </p:pic>
      <p:pic>
        <p:nvPicPr>
          <p:cNvPr id="33" name="Picture 32" descr="Proxy RepositorioReportesRealjava DIA 29 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216" y="1816227"/>
            <a:ext cx="4818368" cy="121843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3291840"/>
            <a:ext cx="3840480" cy="292608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188720"/>
            <a:ext cx="2377440" cy="182880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146304"/>
            <a:ext cx="822960" cy="109728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256032"/>
            <a:ext cx="548640" cy="0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24344" y="64008"/>
            <a:ext cx="164592" cy="164592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65492" y="105156"/>
            <a:ext cx="82296" cy="82296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65592" y="192024"/>
            <a:ext cx="128016" cy="12801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9AD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97596" y="224028"/>
            <a:ext cx="64008" cy="64008"/>
          </a:xfrm>
          <a:prstGeom prst="ellipse">
            <a:avLst/>
          </a:prstGeom>
          <a:solidFill>
            <a:srgbClr val="9AD0F5"/>
          </a:solidFill>
          <a:ln w="12700">
            <a:solidFill>
              <a:srgbClr val="9AD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68512" y="146304"/>
            <a:ext cx="219456" cy="21945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23376" y="201168"/>
            <a:ext cx="109728" cy="109728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743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Proxy: código (2/3)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157216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57216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Análisis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53328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53328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Diseño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0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49440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Código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845552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45552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Pruebas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3 · Patrones de Diseño 2026-2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080760" y="914400"/>
            <a:ext cx="2606040" cy="37947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99632" y="9875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por línea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199632" y="1261872"/>
            <a:ext cx="239572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ProxyReportes L11  </a:t>
            </a:r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proxy implementa la misma interfaz que el objeto real.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ProxyReportes L12-13  </a:t>
            </a:r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 quien pide; sirven para decidir el acceso.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ProxyReportes L14  </a:t>
            </a:r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 al objeto real; empieza en null (aún no se crea).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ProxyReportes L15  </a:t>
            </a:r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Caché de reportes ya consultados.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ProxyReportes L17-20  </a:t>
            </a:r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usuario y rol; NO abre la conexión.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L24  </a:t>
            </a:r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usa la interfaz: no sabe que es un proxy.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L25  </a:t>
            </a:r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 consulta: aquí se crea el objeto real (~1,8 s).</a:t>
            </a:r>
            <a:endParaRPr lang="en-US" sz="900" dirty="0"/>
          </a:p>
        </p:txBody>
      </p:sp>
      <p:pic>
        <p:nvPicPr>
          <p:cNvPr id="32" name="Picture 31" descr="Proxy ProxyReportes java DIA 30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241" y="914400"/>
            <a:ext cx="2634317" cy="1686941"/>
          </a:xfrm>
          <a:prstGeom prst="rect">
            <a:avLst/>
          </a:prstGeom>
        </p:spPr>
      </p:pic>
      <p:pic>
        <p:nvPicPr>
          <p:cNvPr id="33" name="Picture 32" descr="Proxy Main java DIA 30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23155" y="2692781"/>
            <a:ext cx="2354489" cy="659257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3291840"/>
            <a:ext cx="3840480" cy="292608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188720"/>
            <a:ext cx="2377440" cy="182880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146304"/>
            <a:ext cx="822960" cy="109728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256032"/>
            <a:ext cx="548640" cy="0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24344" y="64008"/>
            <a:ext cx="164592" cy="164592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65492" y="105156"/>
            <a:ext cx="82296" cy="82296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65592" y="192024"/>
            <a:ext cx="128016" cy="12801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9AD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97596" y="224028"/>
            <a:ext cx="64008" cy="64008"/>
          </a:xfrm>
          <a:prstGeom prst="ellipse">
            <a:avLst/>
          </a:prstGeom>
          <a:solidFill>
            <a:srgbClr val="9AD0F5"/>
          </a:solidFill>
          <a:ln w="12700">
            <a:solidFill>
              <a:srgbClr val="9AD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68512" y="146304"/>
            <a:ext cx="219456" cy="21945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23376" y="201168"/>
            <a:ext cx="109728" cy="109728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743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Proxy: código (3/3)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157216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57216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Análisis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53328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53328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Diseño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0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49440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Código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845552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45552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Pruebas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3 · Patrones de Diseño 2026-2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080760" y="914400"/>
            <a:ext cx="2606040" cy="37947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199632" y="9875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por línea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199632" y="1261872"/>
            <a:ext cx="239572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L24-25  </a:t>
            </a:r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cada acceso (proxy de logging).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L28-31  </a:t>
            </a:r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Protección: solo GERENTE o AUDITOR; otros reciben null sin tocar la BD.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L33-37  </a:t>
            </a:r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Caché: si ya se consultó, responde sin ir a la BD.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L39-41  </a:t>
            </a:r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Creación perezosa: el objeto real se crea la primera vez que hace falta.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L42  </a:t>
            </a:r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 en el objeto real (consulta lenta).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L43  </a:t>
            </a:r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el resultado para la próxima vez.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L44  </a:t>
            </a:r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Devuelve el reporte.</a:t>
            </a:r>
            <a:endParaRPr lang="en-US" sz="900" dirty="0"/>
          </a:p>
        </p:txBody>
      </p:sp>
      <p:pic>
        <p:nvPicPr>
          <p:cNvPr id="29" name="Picture 28" descr="Proxy  ProxyReportes java DIA 31 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267" y="914400"/>
            <a:ext cx="4660265" cy="318312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3291840"/>
            <a:ext cx="3840480" cy="292608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188720"/>
            <a:ext cx="2377440" cy="182880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146304"/>
            <a:ext cx="822960" cy="109728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256032"/>
            <a:ext cx="548640" cy="0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24344" y="64008"/>
            <a:ext cx="164592" cy="164592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65492" y="105156"/>
            <a:ext cx="82296" cy="82296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65592" y="192024"/>
            <a:ext cx="128016" cy="12801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9AD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97596" y="224028"/>
            <a:ext cx="64008" cy="64008"/>
          </a:xfrm>
          <a:prstGeom prst="ellipse">
            <a:avLst/>
          </a:prstGeom>
          <a:solidFill>
            <a:srgbClr val="9AD0F5"/>
          </a:solidFill>
          <a:ln w="12700">
            <a:solidFill>
              <a:srgbClr val="9AD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68512" y="146304"/>
            <a:ext cx="219456" cy="21945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23376" y="201168"/>
            <a:ext cx="109728" cy="109728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743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Proxy: pruebas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157216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57216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Análisis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53328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53328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Diseño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0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6F2FB"/>
          </a:solidFill>
          <a:ln w="12700">
            <a:solidFill>
              <a:srgbClr val="E6F2F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49440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Código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845552" y="34747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45552" y="3474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Pruebas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3 · Patrones de Diseño 2026-2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0" y="914400"/>
            <a:ext cx="32004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5623560" y="9875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comprobamos?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623560" y="1261872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practicante recibe acceso denegado y la BD no se toca.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gerente: 1ª consulta ≈ 1,8 s; la misma consulta después ≈ 0 ms.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 reporte reutiliza el objeto real ya creado (≈ 1 s).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0" y="2651760"/>
            <a:ext cx="3200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596128" y="2724912"/>
            <a:ext cx="256032" cy="256032"/>
          </a:xfrm>
          <a:prstGeom prst="ellipse">
            <a:avLst/>
          </a:prstGeom>
          <a:solidFill>
            <a:srgbClr val="1E8E5A"/>
          </a:solidFill>
          <a:ln w="12700">
            <a:solidFill>
              <a:srgbClr val="1E8E5A"/>
            </a:solidFill>
            <a:prstDash val="solid"/>
          </a:ln>
        </p:spPr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57576" y="2786360"/>
            <a:ext cx="133137" cy="133137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5925312" y="272491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Ventajas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623560" y="301752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 el acceso sin que el cliente lo note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modifica el objeto real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5486400" y="3749040"/>
            <a:ext cx="32004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5596128" y="3822192"/>
            <a:ext cx="256032" cy="25603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76" y="3883640"/>
            <a:ext cx="133137" cy="133137"/>
          </a:xfrm>
          <a:prstGeom prst="rect">
            <a:avLst/>
          </a:prstGeom>
        </p:spPr>
      </p:pic>
      <p:sp>
        <p:nvSpPr>
          <p:cNvPr id="37" name="Text 33"/>
          <p:cNvSpPr txBox="1"/>
          <p:nvPr/>
        </p:nvSpPr>
        <p:spPr>
          <a:xfrm>
            <a:off x="5925312" y="38221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Desventajas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5623560" y="409651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clases y código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añadir latencia</a:t>
            </a:r>
            <a:endParaRPr lang="en-US" sz="950" dirty="0"/>
          </a:p>
        </p:txBody>
      </p:sp>
      <p:pic>
        <p:nvPicPr>
          <p:cNvPr id="39" name="Picture 38" descr="PROXY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01" y="914400"/>
            <a:ext cx="4242997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3291840"/>
            <a:ext cx="3840480" cy="292608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188720"/>
            <a:ext cx="2377440" cy="182880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146304"/>
            <a:ext cx="822960" cy="109728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256032"/>
            <a:ext cx="548640" cy="0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24344" y="64008"/>
            <a:ext cx="164592" cy="164592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65492" y="105156"/>
            <a:ext cx="82296" cy="82296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65592" y="192024"/>
            <a:ext cx="128016" cy="12801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9AD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97596" y="224028"/>
            <a:ext cx="64008" cy="64008"/>
          </a:xfrm>
          <a:prstGeom prst="ellipse">
            <a:avLst/>
          </a:prstGeom>
          <a:solidFill>
            <a:srgbClr val="9AD0F5"/>
          </a:solidFill>
          <a:ln w="12700">
            <a:solidFill>
              <a:srgbClr val="9AD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68512" y="146304"/>
            <a:ext cx="219456" cy="21945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23376" y="201168"/>
            <a:ext cx="109728" cy="109728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7432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Comparación de patrones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502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3 · Patrones de Diseño 2026-2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651760"/>
                <a:gridCol w="2377440"/>
                <a:gridCol w="19202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F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F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F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Nuestro ejemplo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F4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A3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Decorator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Agregar comportamiento en ejecución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misma que el objeto envuelto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Extras de un tiquete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A3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Simplificar un subsistema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Nueva, más simple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 de tiquete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A3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Flyweight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Ahorrar memoria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Recibe el estado propio por parámetro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Buses en el mapa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A3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Proxy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Controlar el acceso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misma que el objeto real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Reportes protegidos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457200" y="342900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40080" y="3520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A7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Decorator vs. Proxy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379476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Ambos envuelven a un objeto con su misma interfaz. Decorator agrega funcionalidad y el cliente decide cuántas capas apilar; Proxy controla el acceso y normalmente gestiona él mismo el ciclo de vida del objeto real.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3291840"/>
            <a:ext cx="3840480" cy="292608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188720"/>
            <a:ext cx="2377440" cy="182880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146304"/>
            <a:ext cx="822960" cy="109728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256032"/>
            <a:ext cx="548640" cy="0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24344" y="64008"/>
            <a:ext cx="164592" cy="164592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65492" y="105156"/>
            <a:ext cx="82296" cy="82296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65592" y="192024"/>
            <a:ext cx="128016" cy="12801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9AD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97596" y="224028"/>
            <a:ext cx="64008" cy="64008"/>
          </a:xfrm>
          <a:prstGeom prst="ellipse">
            <a:avLst/>
          </a:prstGeom>
          <a:solidFill>
            <a:srgbClr val="9AD0F5"/>
          </a:solidFill>
          <a:ln w="12700">
            <a:solidFill>
              <a:srgbClr val="9AD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68512" y="146304"/>
            <a:ext cx="219456" cy="21945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23376" y="201168"/>
            <a:ext cx="109728" cy="109728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7432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Demostración en vivo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502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Ejecución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3 · Patrones de Diseño 2026-2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 de la demo (mismo procedimiento para cada patrón):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1280160"/>
            <a:ext cx="822960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94360" y="1408176"/>
            <a:ext cx="347472" cy="347472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94360" y="14081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" y="133502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el proyecto en el IDE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3840480" y="1335024"/>
            <a:ext cx="4754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Mostrar las clases del patrón y la clase de control (Main).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1993392"/>
            <a:ext cx="822960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94360" y="2121408"/>
            <a:ext cx="347472" cy="347472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21214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143000" y="204825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Compilar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840480" y="2048256"/>
            <a:ext cx="4754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javac -encoding UTF-8 -d out src/*.java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2706624"/>
            <a:ext cx="822960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94360" y="2834640"/>
            <a:ext cx="347472" cy="347472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94360" y="28346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143000" y="276148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paso a paso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3840480" y="2761488"/>
            <a:ext cx="4754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-cp out Main --pausas   (Enter avanza cada caso)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57200" y="3419856"/>
            <a:ext cx="822960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94360" y="3547872"/>
            <a:ext cx="347472" cy="347472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94360" y="35478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143000" y="347472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con lo esperado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3840480" y="3474720"/>
            <a:ext cx="4754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Volver a la diapositiva de pruebas y verificar cada resultado.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exponer: verificar java -version y probar todo en el computador que se usará en clase.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0" y="2926080"/>
            <a:ext cx="4754880" cy="3474720"/>
          </a:xfrm>
          <a:prstGeom prst="ellipse">
            <a:avLst/>
          </a:prstGeom>
          <a:solidFill>
            <a:srgbClr val="E4F2FC"/>
          </a:solidFill>
          <a:ln w="12700">
            <a:solidFill>
              <a:srgbClr val="E4F2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097280"/>
            <a:ext cx="2743200" cy="219456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457200"/>
            <a:ext cx="822960" cy="109728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0" y="566928"/>
            <a:ext cx="548640" cy="0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141464" y="374904"/>
            <a:ext cx="164592" cy="164592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82612" y="416052"/>
            <a:ext cx="82296" cy="82296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982712" y="502920"/>
            <a:ext cx="128016" cy="12801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9AD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14716" y="534924"/>
            <a:ext cx="64008" cy="64008"/>
          </a:xfrm>
          <a:prstGeom prst="ellipse">
            <a:avLst/>
          </a:prstGeom>
          <a:solidFill>
            <a:srgbClr val="9AD0F5"/>
          </a:solidFill>
          <a:ln w="12700">
            <a:solidFill>
              <a:srgbClr val="9AD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85632" y="457200"/>
            <a:ext cx="219456" cy="21945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40496" y="512064"/>
            <a:ext cx="109728" cy="109728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657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Conclusiones</a:t>
            </a:r>
            <a:endParaRPr lang="en-US" sz="4000" dirty="0"/>
          </a:p>
        </p:txBody>
      </p:sp>
      <p:sp>
        <p:nvSpPr>
          <p:cNvPr id="13" name="Shape 11"/>
          <p:cNvSpPr/>
          <p:nvPr/>
        </p:nvSpPr>
        <p:spPr>
          <a:xfrm>
            <a:off x="548640" y="1188720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31520" y="12801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A7DB8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Decorator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16459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en vez de herencia para extender comportamiento.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63440" y="1188720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846320" y="12801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A7DB8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Facade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16459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punto de entrada simple reduce el acoplamiento.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2286000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31520" y="2377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A7DB8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Flyweight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27432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 estado inmutable ahorra memoria a gran escala.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663440" y="2286000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846320" y="2377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A7DB8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Proxy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4846320" y="27432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intermediario permite proteger, retrasar y cachear.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3520440"/>
            <a:ext cx="8046720" cy="1051560"/>
          </a:xfrm>
          <a:prstGeom prst="roundRect">
            <a:avLst>
              <a:gd name="adj" fmla="val 6957"/>
            </a:avLst>
          </a:prstGeom>
          <a:solidFill>
            <a:srgbClr val="2E323D"/>
          </a:solidFill>
          <a:ln w="12700">
            <a:solidFill>
              <a:srgbClr val="2E323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B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ejecutar los proyectos (Java 11+)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38862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decorator   (o facade, flyweight, proxy)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javac -encoding UTF-8 -d out src/*.java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-cp out Main --pausas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3291840"/>
            <a:ext cx="3840480" cy="292608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188720"/>
            <a:ext cx="2377440" cy="1828800"/>
          </a:xfrm>
          <a:prstGeom prst="ellipse">
            <a:avLst/>
          </a:prstGeom>
          <a:solidFill>
            <a:srgbClr val="EDF6FD"/>
          </a:solidFill>
          <a:ln w="12700">
            <a:solidFill>
              <a:srgbClr val="ED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146304"/>
            <a:ext cx="822960" cy="109728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256032"/>
            <a:ext cx="548640" cy="0"/>
          </a:xfrm>
          <a:prstGeom prst="line">
            <a:avLst/>
          </a:prstGeom>
          <a:noFill/>
          <a:ln w="9525">
            <a:solidFill>
              <a:srgbClr val="3A3F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24344" y="64008"/>
            <a:ext cx="164592" cy="164592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65492" y="105156"/>
            <a:ext cx="82296" cy="82296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65592" y="192024"/>
            <a:ext cx="128016" cy="12801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9AD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97596" y="224028"/>
            <a:ext cx="64008" cy="64008"/>
          </a:xfrm>
          <a:prstGeom prst="ellipse">
            <a:avLst/>
          </a:prstGeom>
          <a:solidFill>
            <a:srgbClr val="9AD0F5"/>
          </a:solidFill>
          <a:ln w="12700">
            <a:solidFill>
              <a:srgbClr val="9AD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68512" y="146304"/>
            <a:ext cx="219456" cy="219456"/>
          </a:xfrm>
          <a:prstGeom prst="ellipse">
            <a:avLst/>
          </a:prstGeom>
          <a:solidFill>
            <a:srgbClr val="E6F2FB"/>
          </a:solidFill>
          <a:ln w="19050">
            <a:solidFill>
              <a:srgbClr val="5BB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23376" y="201168"/>
            <a:ext cx="109728" cy="109728"/>
          </a:xfrm>
          <a:prstGeom prst="ellipse">
            <a:avLst/>
          </a:prstGeom>
          <a:solidFill>
            <a:srgbClr val="5BB4F0"/>
          </a:solidFill>
          <a:ln w="12700">
            <a:solidFill>
              <a:srgbClr val="5BB4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7432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3F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Referencias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502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3 · Patrones de Diseño 2026-2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Gamma, E., Helm, R., Johnson, R. y Vlissides, J. (1994). Design Patterns: Elements of Reusable Object-Oriented Software. Addison-Wesley.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Refactoring.Guru. Decorator: https://refactoring.guru/design-patterns/decorator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Refactoring.Guru. Facade: https://refactoring.guru/design-patterns/facade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Refactoring.Guru. Flyweight: https://refactoring.guru/design-patterns/flyweight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Refactoring.Guru. Proxy: https://refactoring.guru/design-patterns/proxy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 en Java: elaboración del grupo (carpeta de proyectos adjunta).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Patrones estructurales: Decorator, Facade, Flyweight y Proxy</dc:title>
  <dc:subject>PptxGenJS Presentation</dc:subject>
  <dc:creator>Grupo 3</dc:creator>
  <cp:lastModifiedBy>Grupo 3</cp:lastModifiedBy>
  <cp:revision>1</cp:revision>
  <dcterms:created xsi:type="dcterms:W3CDTF">2026-09-27T02:52:43Z</dcterms:created>
  <dcterms:modified xsi:type="dcterms:W3CDTF">2026-09-27T02:52:43Z</dcterms:modified>
</cp:coreProperties>
</file>